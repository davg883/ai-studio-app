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your time. I'm Simon Harrop from Medina Publishing. I'm presenting today on behalf of our small partnership: Pete Murray, the author of The Darker Side of Wight; Medina, his publisher; and David Grannum of IsleConnect, who designs and produces the experience.
The short version: we'd like to create a story-led experience for The Garlic Farm that gives families a fresh reason to visit, steers them towards your shop and restaurant, and leaves you with a library of media you can keep using. Everything today is built around what the farm gets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remember one line, it's this one: step into the story at the place that inspired it. It's fiction, and we're clear about that, but it's set in a real place you can walk through.
In practice, a family sees a small card, scans it with their phone and a short story opens in the browser. There's no app to download and no account. They walk to three spots on the farm. At each one they learn something real about garlic and the farm, hear a minute of the story, and look for a clue.
At the end, the story hands them to whatever you want them to do next: taste something, visit the shop, book a table or pick up the book. It takes ten to fifteen minutes and it's entirely optional, so it never gets in the way of an ordinary visit.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it, so I'll take a moment here.
First, it gives families a new, seasonal reason to choose the farm: a story they can only complete by being here.
Second, it makes the visit richer. The stops point people at the things you're proud of: the land, the growing year, how the products are made.
Third, it steers spending. You decide what each visit ends with, so on a busy restaurant day it might point to the shop, and on a quiet one to a table.
Fourth, you're left with media you can keep using: film, short clips, photographs and ready-written captions.
Fifth, there's nothing to build. No app, no new attraction, and nobody needs an account or to give personal details to take part. Just small cards on routes that already exist.
And finally, it's measured. You'll see how many people took part and what they did next, and you decide whether to continue.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Pete's book takes real Island places and gives them a darker, storytelling edge. Shrouded in Garlic brings that world to the farm through Matty, a boy whose visit turns up clues about garlic, light and reflection.
These frames come from a 48-second concept film David has already produced. It shows the shape of the finished film: it starts with the real farm, turns into Matty's story, and ends with an invitation to come and scan the story for yourself.
The tone is atmospheric rather than scary. Pete and the farm would agree exactly how dark it gets for a family audience.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visitor's view, step by step.
They notice a small card or see a post. They scan it and the story opens straight away in their phone's browser.
On the right is an illustration of what a stop looks like on the phone: a photo, a line or two of real farm information, a one-minute piece of Matty's story with captions, and a short list of things to find. Finding them unlocks the next part of the story.
The final stop hands over to the farm: a tasting, a product, the menu or the book. Then there's a gentle reason to come back, such as signing up to your newsletter through your existing consent process, the next event or the next story.
The wording on the screen is illustrative. The farm supplies and approves all the real 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how the three stops might work. Each column is one stop. Reading down: what's real on the farm at that spot, what happens in the story, and what the visitor does.
The first stop is about the land and the growing year, and it's where the story begins. The second is about what happens to garlic after harvest, and it's where the fiction starts to creep in. The third is about taste, and it's where the story ends and hands over to a product, a tasting or the menu.
The important line is at the bottom: you choose the spots, the facts and the products. We'd settle the actual route on a walk round the farm with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Children lead the hunt. At each stop they look for something connected to garlic, light or reflection, which are the clues in Matty's story. Finding them unlocks the next part.
It's designed so adults can enjoy the farm at their own pace while children stay engaged. It also brings in the senses naturally: sight and sound through the story, smell and touch with the garlic where that's practical, and taste at the end.
No account or personal details are needed to take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why the partnership works commercially. Everything is made once and used many times, by everyone.
The farm uses the film and clips on its website, social media and screens. Pete and Medina use the same approved material to promote the book at events and in schools. So one production budget gets two sets of promotion, and each partner's audience sees the others.
IsleConnect is paid the agreed delivery fee. On top of that, with your approval, David would like to publish a case study showing this approach working at one of the Island's best-known attractions. That permission is what makes the introductory pricing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Distribution is agreed up front, with a clear owner for each channel, rather than assumed.
David prepares the posts and captions; the farm decides what goes on its own channels. Pete and Medina share with their readers, booksellers and school audiences. David will also approach relevant local community and interest groups, such as family, food, walking and folklore groups, but only where each group's rules allow it and after asking first. Tourism organisations and the local press are approached, not taken for granted.
We can't guarantee reach or sales, but every channel is tracked, so we'll see which ones actually bring people to the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also a test of something new, and we'd like the farm to be the first to try it.
It combines three layers. The real place: your farm and products. An AI-assisted story world: David uses AI image and video tools to create Matty and the story scenes. Traditionally that would mean casting, a film crew and night shoots, which would put this out of reach for a single venue. And real people: Pete, your team and your visitors, who give it authenticity.
The two images on the right were generated separately: the character master and a scene in the café. Shown at the same scale, it's clearly the same boy, with the same face, hair, hoodie and pendant. That consistency is what makes it feel like a proper production.
People stay in charge. Nothing is published without the farm, Pete and Medina approving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risk: the experience is clearly presented as a story. Nobody needs an account or to give personal details to use the trail; if someone chooses to join your newsletter, that goes through your existing consent process. Visit counts come from anonymous analytics, and David checks those settings before launch. Nothing goes public without your approval. Matty is an invented character created with AI tools, so no real child is filmed. It runs for a defined trial period and fits around normal operations.
On results: we'll measure how many people start the story, how far they get, and how many go on to the shop, menu, booking or book. An optional code, for example a tasting offer, gives a clearer sales signal. We'll add short visitor feedback and what your staff notice.
We won't promise numbers we can't control. What we promise is to measure honestly, so you can decide on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levels, and we'd recommend starting with the Story Test.
For £1,450 it proves one complete visitor journey: three stops, the hero film and three launch posts, a four-week live trial and an end-of-trial summary. If it works, the Venue Campaign builds it into a full family campaign: a filming session and an eight-week campaign with monthly reviews, all within the £3,250. Island Anchor is the bigger step, with a twelve-week campaign included in the £5,950.
To be clear on the monthly figures: each production fee already covers the whole included period. The monthly support is optional and only starts afterwards, if you want the campaign to keep running.
These are introductory prices. IsleConnect is paid the agreed fee; the prices are lower than a normal production because we're reusing the existing concept film and because IsleConnect would like to publish an approved case study. The final figure is fixed after the site 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is in three stages. First we build and get everything approved: the site walk, the route, the story adaptation, the film and the mobile pages. Second, we launch: cards go up, your staff get a short briefing that we prepare, and posts go out on the channels we agreed at kick-off. Third, we measure and decide together what to keep, change or extend.
From a go-ahead, launch is around six weeks, depending on how quickly approvals come back. If we agreed today, that means a full launch in early November. That makes darker evenings and the run-up to Christmas a natural window, which suits a slightly spooky story and gifting from the shop. If everyone approves quickly, we could run a shorter teaser at half-term using the concept film, ahead of the full launch.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tried to keep the load on the farm light. We'd need a site walk and one named contact, your choice of stops, facts and products, and a short staff briefing, which David prepares. Then space for a few small cards, your approval before anything goes public, and sharing some posts on your channels.
Pete looks after the story and the character. Medina, through me, handles the partnership, publishing permissions and book sales. David and IsleConnect do the design, production, campaign and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step is simple and commits you to nothing: a walk round the farm with David, Pete and me.
On that walk we'd answer four questions. Who is this for? What matters most commercially: the shop, the restaurant or return visits? Which three spots work without getting in anyone's way? And when should it launch, and at which level?
After that, David will send one fixed-scope proposal and price for you to consider. Could we put a date in the diary for the walk?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jpg"/><Relationship Id="rId3" Type="http://schemas.openxmlformats.org/officeDocument/2006/relationships/image" Target="../media/image-4-3.jpg"/><Relationship Id="rId4" Type="http://schemas.openxmlformats.org/officeDocument/2006/relationships/image" Target="../media/image-4-4.jp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image" Target="../media/image-10-2.jp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01</a:t>
            </a:r>
            <a:endParaRPr lang="en-US" sz="800" dirty="0"/>
          </a:p>
        </p:txBody>
      </p:sp>
      <p:pic>
        <p:nvPicPr>
          <p:cNvPr id="3" name="Image 0" descr="/tmp/claude-0/-home-claude/44c6354d-2ed6-549b-8a9d-d752d4a7ab5e/scratchpad/build/img/c_book.jpg">    </p:cNvPr>
          <p:cNvPicPr>
            <a:picLocks noChangeAspect="1"/>
          </p:cNvPicPr>
          <p:nvPr/>
        </p:nvPicPr>
        <p:blipFill>
          <a:blip r:embed="rId1"/>
          <a:stretch>
            <a:fillRect/>
          </a:stretch>
        </p:blipFill>
        <p:spPr>
          <a:xfrm>
            <a:off x="5522976" y="0"/>
            <a:ext cx="3621024" cy="5143500"/>
          </a:xfrm>
          <a:prstGeom prst="rect">
            <a:avLst/>
          </a:prstGeom>
        </p:spPr>
      </p:pic>
      <p:sp>
        <p:nvSpPr>
          <p:cNvPr id="4" name="Text 1"/>
          <p:cNvSpPr txBox="1"/>
          <p:nvPr/>
        </p:nvSpPr>
        <p:spPr>
          <a:xfrm>
            <a:off x="548640" y="548640"/>
            <a:ext cx="4754880" cy="228600"/>
          </a:xfrm>
          <a:prstGeom prst="rect">
            <a:avLst/>
          </a:prstGeom>
          <a:noFill/>
          <a:ln/>
        </p:spPr>
        <p:txBody>
          <a:bodyPr wrap="square" lIns="0" tIns="0" rIns="0" bIns="0" rtlCol="0" anchor="t"/>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5" name="Text 2"/>
          <p:cNvSpPr txBox="1"/>
          <p:nvPr/>
        </p:nvSpPr>
        <p:spPr>
          <a:xfrm>
            <a:off x="548640" y="1188720"/>
            <a:ext cx="4846320" cy="822960"/>
          </a:xfrm>
          <a:prstGeom prst="rect">
            <a:avLst/>
          </a:prstGeom>
          <a:noFill/>
          <a:ln/>
        </p:spPr>
        <p:txBody>
          <a:bodyPr wrap="square" lIns="0" tIns="0" rIns="0" bIns="0" rtlCol="0" anchor="t"/>
          <a:lstStyle/>
          <a:p>
            <a:pPr indent="0" marL="0">
              <a:buNone/>
            </a:pPr>
            <a:r>
              <a:rPr lang="en-US" sz="4400" dirty="0">
                <a:solidFill>
                  <a:srgbClr val="F3EEE4"/>
                </a:solidFill>
                <a:latin typeface="Cambria" pitchFamily="34" charset="0"/>
                <a:ea typeface="Cambria" pitchFamily="34" charset="-122"/>
                <a:cs typeface="Cambria" pitchFamily="34" charset="-120"/>
              </a:rPr>
              <a:t>Shrouded in Garlic</a:t>
            </a:r>
            <a:endParaRPr lang="en-US" sz="4400" dirty="0"/>
          </a:p>
        </p:txBody>
      </p:sp>
      <p:sp>
        <p:nvSpPr>
          <p:cNvPr id="6" name="Text 3"/>
          <p:cNvSpPr txBox="1"/>
          <p:nvPr/>
        </p:nvSpPr>
        <p:spPr>
          <a:xfrm>
            <a:off x="548640" y="2057400"/>
            <a:ext cx="4754880" cy="365760"/>
          </a:xfrm>
          <a:prstGeom prst="rect">
            <a:avLst/>
          </a:prstGeom>
          <a:noFill/>
          <a:ln/>
        </p:spPr>
        <p:txBody>
          <a:bodyPr wrap="square" lIns="0" tIns="0" rIns="0" bIns="0" rtlCol="0" anchor="t"/>
          <a:lstStyle/>
          <a:p>
            <a:pPr indent="0" marL="0">
              <a:buNone/>
            </a:pPr>
            <a:r>
              <a:rPr lang="en-US" sz="1700" i="1" dirty="0">
                <a:solidFill>
                  <a:srgbClr val="D9A04A"/>
                </a:solidFill>
                <a:latin typeface="Cambria" pitchFamily="34" charset="0"/>
                <a:ea typeface="Cambria" pitchFamily="34" charset="-122"/>
                <a:cs typeface="Cambria" pitchFamily="34" charset="-120"/>
              </a:rPr>
              <a:t>A story-led visitor experience for The Garlic Farm</a:t>
            </a:r>
            <a:endParaRPr lang="en-US" sz="1700" dirty="0"/>
          </a:p>
        </p:txBody>
      </p:sp>
      <p:sp>
        <p:nvSpPr>
          <p:cNvPr id="7" name="Text 4"/>
          <p:cNvSpPr txBox="1"/>
          <p:nvPr/>
        </p:nvSpPr>
        <p:spPr>
          <a:xfrm>
            <a:off x="548640" y="2697480"/>
            <a:ext cx="4480560" cy="822960"/>
          </a:xfrm>
          <a:prstGeom prst="rect">
            <a:avLst/>
          </a:prstGeom>
          <a:noFill/>
          <a:ln/>
        </p:spPr>
        <p:txBody>
          <a:bodyPr wrap="square" lIns="0" tIns="0" rIns="0" bIns="0" rtlCol="0" anchor="t"/>
          <a:lstStyle/>
          <a:p>
            <a:pPr indent="0" marL="0">
              <a:buNone/>
            </a:pPr>
            <a:r>
              <a:rPr lang="en-US" sz="1300" dirty="0">
                <a:solidFill>
                  <a:srgbClr val="B3ADC0"/>
                </a:solidFill>
                <a:latin typeface="Calibri" pitchFamily="34" charset="0"/>
                <a:ea typeface="Calibri" pitchFamily="34" charset="-122"/>
                <a:cs typeface="Calibri" pitchFamily="34" charset="-120"/>
              </a:rPr>
              <a:t>A proposal from Medina Publishing, Island author Peter J Murray and IsleConnect: a new reason for families to visit, and a test of a new kind of local marketing.</a:t>
            </a:r>
            <a:endParaRPr lang="en-US" sz="1300" dirty="0"/>
          </a:p>
        </p:txBody>
      </p:sp>
      <p:sp>
        <p:nvSpPr>
          <p:cNvPr id="8" name="Text 5"/>
          <p:cNvSpPr txBox="1"/>
          <p:nvPr/>
        </p:nvSpPr>
        <p:spPr>
          <a:xfrm>
            <a:off x="548640" y="4160520"/>
            <a:ext cx="4572000" cy="457200"/>
          </a:xfrm>
          <a:prstGeom prst="rect">
            <a:avLst/>
          </a:prstGeom>
          <a:noFill/>
          <a:ln/>
        </p:spPr>
        <p:txBody>
          <a:bodyPr wrap="square" lIns="0" tIns="0" rIns="0" bIns="0" rtlCol="0" anchor="t"/>
          <a:lstStyle/>
          <a:p>
            <a:pPr indent="0" marL="0">
              <a:buNone/>
            </a:pPr>
            <a:r>
              <a:rPr lang="en-US" sz="1000" dirty="0">
                <a:solidFill>
                  <a:srgbClr val="B3ADC0"/>
                </a:solidFill>
                <a:latin typeface="Calibri" pitchFamily="34" charset="0"/>
                <a:ea typeface="Calibri" pitchFamily="34" charset="-122"/>
                <a:cs typeface="Calibri" pitchFamily="34" charset="-120"/>
              </a:rPr>
              <a:t>Presented by Simon Harrop, Medina Publishing</a:t>
            </a:r>
            <a:endParaRPr lang="en-US" sz="1000" dirty="0"/>
          </a:p>
          <a:p>
            <a:pPr indent="0" marL="0">
              <a:buNone/>
            </a:pPr>
            <a:r>
              <a:rPr lang="en-US" sz="1000" dirty="0">
                <a:solidFill>
                  <a:srgbClr val="B3ADC0"/>
                </a:solidFill>
                <a:latin typeface="Calibri" pitchFamily="34" charset="0"/>
                <a:ea typeface="Calibri" pitchFamily="34" charset="-122"/>
                <a:cs typeface="Calibri" pitchFamily="34" charset="-120"/>
              </a:rPr>
              <a:t>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The idea in one line</a:t>
            </a:r>
            <a:endParaRPr lang="en-US" sz="2800" dirty="0"/>
          </a:p>
        </p:txBody>
      </p:sp>
      <p:sp>
        <p:nvSpPr>
          <p:cNvPr id="4" name="Text 2"/>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02</a:t>
            </a:r>
            <a:endParaRPr lang="en-US" sz="800" dirty="0"/>
          </a:p>
        </p:txBody>
      </p:sp>
      <p:pic>
        <p:nvPicPr>
          <p:cNvPr id="5" name="Image 0" descr="/tmp/claude-0/-home-claude/44c6354d-2ed6-549b-8a9d-d752d4a7ab5e/scratchpad/build/img/c_phone_tall.jpg">    </p:cNvPr>
          <p:cNvPicPr>
            <a:picLocks noChangeAspect="1"/>
          </p:cNvPicPr>
          <p:nvPr/>
        </p:nvPicPr>
        <p:blipFill>
          <a:blip r:embed="rId1"/>
          <a:stretch>
            <a:fillRect/>
          </a:stretch>
        </p:blipFill>
        <p:spPr>
          <a:xfrm>
            <a:off x="5669280" y="502920"/>
            <a:ext cx="3017520" cy="4023360"/>
          </a:xfrm>
          <a:prstGeom prst="rect">
            <a:avLst/>
          </a:prstGeom>
        </p:spPr>
      </p:pic>
      <p:sp>
        <p:nvSpPr>
          <p:cNvPr id="6" name="Text 3"/>
          <p:cNvSpPr txBox="1"/>
          <p:nvPr/>
        </p:nvSpPr>
        <p:spPr>
          <a:xfrm>
            <a:off x="457200" y="1188720"/>
            <a:ext cx="4937760" cy="868680"/>
          </a:xfrm>
          <a:prstGeom prst="rect">
            <a:avLst/>
          </a:prstGeom>
          <a:noFill/>
          <a:ln/>
        </p:spPr>
        <p:txBody>
          <a:bodyPr wrap="square" lIns="0" tIns="0" rIns="0" bIns="0" rtlCol="0" anchor="t"/>
          <a:lstStyle/>
          <a:p>
            <a:pPr indent="0" marL="0">
              <a:buNone/>
            </a:pPr>
            <a:r>
              <a:rPr lang="en-US" sz="2200" i="1" dirty="0">
                <a:solidFill>
                  <a:srgbClr val="D9A04A"/>
                </a:solidFill>
                <a:latin typeface="Cambria" pitchFamily="34" charset="0"/>
                <a:ea typeface="Cambria" pitchFamily="34" charset="-122"/>
                <a:cs typeface="Cambria" pitchFamily="34" charset="-120"/>
              </a:rPr>
              <a:t>“Step into the story at the place that inspired it.”</a:t>
            </a:r>
            <a:endParaRPr lang="en-US" sz="2200" dirty="0"/>
          </a:p>
        </p:txBody>
      </p:sp>
      <p:sp>
        <p:nvSpPr>
          <p:cNvPr id="7" name="Text 4"/>
          <p:cNvSpPr txBox="1"/>
          <p:nvPr/>
        </p:nvSpPr>
        <p:spPr>
          <a:xfrm>
            <a:off x="457200" y="2148840"/>
            <a:ext cx="4846320" cy="1097280"/>
          </a:xfrm>
          <a:prstGeom prst="rect">
            <a:avLst/>
          </a:prstGeom>
          <a:noFill/>
          <a:ln/>
        </p:spPr>
        <p:txBody>
          <a:bodyPr wrap="square" lIns="0" tIns="0" rIns="0" bIns="0" rtlCol="0" anchor="t"/>
          <a:lstStyle/>
          <a:p>
            <a:pPr indent="0" marL="0">
              <a:buNone/>
            </a:pPr>
            <a:r>
              <a:rPr lang="en-US" sz="1300" dirty="0">
                <a:solidFill>
                  <a:srgbClr val="F3EEE4"/>
                </a:solidFill>
                <a:latin typeface="Calibri" pitchFamily="34" charset="0"/>
                <a:ea typeface="Calibri" pitchFamily="34" charset="-122"/>
                <a:cs typeface="Calibri" pitchFamily="34" charset="-120"/>
              </a:rPr>
              <a:t>Visitors scan a card at the farm and follow a short, family-friendly story by Island author Peter J Murray through three spots on the farm. Each stop mixes a real farm fact with a moment of fiction, and the story ends where you choose: a tasting, the shop or the restaurant.</a:t>
            </a:r>
            <a:endParaRPr lang="en-US" sz="1300" dirty="0"/>
          </a:p>
        </p:txBody>
      </p:sp>
      <p:sp>
        <p:nvSpPr>
          <p:cNvPr id="8" name="Shape 5"/>
          <p:cNvSpPr/>
          <p:nvPr/>
        </p:nvSpPr>
        <p:spPr>
          <a:xfrm>
            <a:off x="457200" y="3429000"/>
            <a:ext cx="1508760" cy="1097280"/>
          </a:xfrm>
          <a:prstGeom prst="roundRect">
            <a:avLst>
              <a:gd name="adj" fmla="val 6667"/>
            </a:avLst>
          </a:prstGeom>
          <a:solidFill>
            <a:srgbClr val="221D2F"/>
          </a:solidFill>
          <a:ln w="12700">
            <a:solidFill>
              <a:srgbClr val="221D2F"/>
            </a:solidFill>
            <a:prstDash val="solid"/>
          </a:ln>
        </p:spPr>
      </p:sp>
      <p:sp>
        <p:nvSpPr>
          <p:cNvPr id="9" name="Text 6"/>
          <p:cNvSpPr txBox="1"/>
          <p:nvPr/>
        </p:nvSpPr>
        <p:spPr>
          <a:xfrm>
            <a:off x="594360" y="3520440"/>
            <a:ext cx="1280160" cy="502920"/>
          </a:xfrm>
          <a:prstGeom prst="rect">
            <a:avLst/>
          </a:prstGeom>
          <a:noFill/>
          <a:ln/>
        </p:spPr>
        <p:txBody>
          <a:bodyPr wrap="square" lIns="0" tIns="0" rIns="0" bIns="0" rtlCol="0" anchor="t"/>
          <a:lstStyle/>
          <a:p>
            <a:pPr indent="0" marL="0">
              <a:buNone/>
            </a:pPr>
            <a:r>
              <a:rPr lang="en-US" sz="2800" dirty="0">
                <a:solidFill>
                  <a:srgbClr val="D9A04A"/>
                </a:solidFill>
                <a:latin typeface="Cambria" pitchFamily="34" charset="0"/>
                <a:ea typeface="Cambria" pitchFamily="34" charset="-122"/>
                <a:cs typeface="Cambria" pitchFamily="34" charset="-120"/>
              </a:rPr>
              <a:t>10–15</a:t>
            </a:r>
            <a:endParaRPr lang="en-US" sz="2800" dirty="0"/>
          </a:p>
        </p:txBody>
      </p:sp>
      <p:sp>
        <p:nvSpPr>
          <p:cNvPr id="10" name="Text 7"/>
          <p:cNvSpPr txBox="1"/>
          <p:nvPr/>
        </p:nvSpPr>
        <p:spPr>
          <a:xfrm>
            <a:off x="594360" y="4041648"/>
            <a:ext cx="1280160" cy="411480"/>
          </a:xfrm>
          <a:prstGeom prst="rect">
            <a:avLst/>
          </a:prstGeom>
          <a:noFill/>
          <a:ln/>
        </p:spPr>
        <p:txBody>
          <a:bodyPr wrap="square" lIns="0" tIns="0" rIns="0" bIns="0" rtlCol="0" anchor="t"/>
          <a:lstStyle/>
          <a:p>
            <a:pPr indent="0" marL="0">
              <a:buNone/>
            </a:pPr>
            <a:r>
              <a:rPr lang="en-US" sz="1000" dirty="0">
                <a:solidFill>
                  <a:srgbClr val="B3ADC0"/>
                </a:solidFill>
                <a:latin typeface="Calibri" pitchFamily="34" charset="0"/>
                <a:ea typeface="Calibri" pitchFamily="34" charset="-122"/>
                <a:cs typeface="Calibri" pitchFamily="34" charset="-120"/>
              </a:rPr>
              <a:t>minutes, entirely optional</a:t>
            </a:r>
            <a:endParaRPr lang="en-US" sz="1000" dirty="0"/>
          </a:p>
        </p:txBody>
      </p:sp>
      <p:sp>
        <p:nvSpPr>
          <p:cNvPr id="11" name="Shape 8"/>
          <p:cNvSpPr/>
          <p:nvPr/>
        </p:nvSpPr>
        <p:spPr>
          <a:xfrm>
            <a:off x="2103120" y="3429000"/>
            <a:ext cx="1508760" cy="1097280"/>
          </a:xfrm>
          <a:prstGeom prst="roundRect">
            <a:avLst>
              <a:gd name="adj" fmla="val 6667"/>
            </a:avLst>
          </a:prstGeom>
          <a:solidFill>
            <a:srgbClr val="221D2F"/>
          </a:solidFill>
          <a:ln w="12700">
            <a:solidFill>
              <a:srgbClr val="221D2F"/>
            </a:solidFill>
            <a:prstDash val="solid"/>
          </a:ln>
        </p:spPr>
      </p:sp>
      <p:sp>
        <p:nvSpPr>
          <p:cNvPr id="12" name="Text 9"/>
          <p:cNvSpPr txBox="1"/>
          <p:nvPr/>
        </p:nvSpPr>
        <p:spPr>
          <a:xfrm>
            <a:off x="2240280" y="3520440"/>
            <a:ext cx="1280160" cy="502920"/>
          </a:xfrm>
          <a:prstGeom prst="rect">
            <a:avLst/>
          </a:prstGeom>
          <a:noFill/>
          <a:ln/>
        </p:spPr>
        <p:txBody>
          <a:bodyPr wrap="square" lIns="0" tIns="0" rIns="0" bIns="0" rtlCol="0" anchor="t"/>
          <a:lstStyle/>
          <a:p>
            <a:pPr indent="0" marL="0">
              <a:buNone/>
            </a:pPr>
            <a:r>
              <a:rPr lang="en-US" sz="2800" dirty="0">
                <a:solidFill>
                  <a:srgbClr val="D9A04A"/>
                </a:solidFill>
                <a:latin typeface="Cambria" pitchFamily="34" charset="0"/>
                <a:ea typeface="Cambria" pitchFamily="34" charset="-122"/>
                <a:cs typeface="Cambria" pitchFamily="34" charset="-120"/>
              </a:rPr>
              <a:t>3</a:t>
            </a:r>
            <a:endParaRPr lang="en-US" sz="2800" dirty="0"/>
          </a:p>
        </p:txBody>
      </p:sp>
      <p:sp>
        <p:nvSpPr>
          <p:cNvPr id="13" name="Text 10"/>
          <p:cNvSpPr txBox="1"/>
          <p:nvPr/>
        </p:nvSpPr>
        <p:spPr>
          <a:xfrm>
            <a:off x="2240280" y="4041648"/>
            <a:ext cx="1280160" cy="411480"/>
          </a:xfrm>
          <a:prstGeom prst="rect">
            <a:avLst/>
          </a:prstGeom>
          <a:noFill/>
          <a:ln/>
        </p:spPr>
        <p:txBody>
          <a:bodyPr wrap="square" lIns="0" tIns="0" rIns="0" bIns="0" rtlCol="0" anchor="t"/>
          <a:lstStyle/>
          <a:p>
            <a:pPr indent="0" marL="0">
              <a:buNone/>
            </a:pPr>
            <a:r>
              <a:rPr lang="en-US" sz="1000" dirty="0">
                <a:solidFill>
                  <a:srgbClr val="B3ADC0"/>
                </a:solidFill>
                <a:latin typeface="Calibri" pitchFamily="34" charset="0"/>
                <a:ea typeface="Calibri" pitchFamily="34" charset="-122"/>
                <a:cs typeface="Calibri" pitchFamily="34" charset="-120"/>
              </a:rPr>
              <a:t>stops on routes you already have</a:t>
            </a:r>
            <a:endParaRPr lang="en-US" sz="1000" dirty="0"/>
          </a:p>
        </p:txBody>
      </p:sp>
      <p:sp>
        <p:nvSpPr>
          <p:cNvPr id="14" name="Shape 11"/>
          <p:cNvSpPr/>
          <p:nvPr/>
        </p:nvSpPr>
        <p:spPr>
          <a:xfrm>
            <a:off x="3749040" y="3429000"/>
            <a:ext cx="1508760" cy="1097280"/>
          </a:xfrm>
          <a:prstGeom prst="roundRect">
            <a:avLst>
              <a:gd name="adj" fmla="val 6667"/>
            </a:avLst>
          </a:prstGeom>
          <a:solidFill>
            <a:srgbClr val="221D2F"/>
          </a:solidFill>
          <a:ln w="12700">
            <a:solidFill>
              <a:srgbClr val="221D2F"/>
            </a:solidFill>
            <a:prstDash val="solid"/>
          </a:ln>
        </p:spPr>
      </p:sp>
      <p:sp>
        <p:nvSpPr>
          <p:cNvPr id="15" name="Text 12"/>
          <p:cNvSpPr txBox="1"/>
          <p:nvPr/>
        </p:nvSpPr>
        <p:spPr>
          <a:xfrm>
            <a:off x="3886200" y="3520440"/>
            <a:ext cx="1280160" cy="502920"/>
          </a:xfrm>
          <a:prstGeom prst="rect">
            <a:avLst/>
          </a:prstGeom>
          <a:noFill/>
          <a:ln/>
        </p:spPr>
        <p:txBody>
          <a:bodyPr wrap="square" lIns="0" tIns="0" rIns="0" bIns="0" rtlCol="0" anchor="t"/>
          <a:lstStyle/>
          <a:p>
            <a:pPr indent="0" marL="0">
              <a:buNone/>
            </a:pPr>
            <a:r>
              <a:rPr lang="en-US" sz="2800" dirty="0">
                <a:solidFill>
                  <a:srgbClr val="D9A04A"/>
                </a:solidFill>
                <a:latin typeface="Cambria" pitchFamily="34" charset="0"/>
                <a:ea typeface="Cambria" pitchFamily="34" charset="-122"/>
                <a:cs typeface="Cambria" pitchFamily="34" charset="-120"/>
              </a:rPr>
              <a:t>0</a:t>
            </a:r>
            <a:endParaRPr lang="en-US" sz="2800" dirty="0"/>
          </a:p>
        </p:txBody>
      </p:sp>
      <p:sp>
        <p:nvSpPr>
          <p:cNvPr id="16" name="Text 13"/>
          <p:cNvSpPr txBox="1"/>
          <p:nvPr/>
        </p:nvSpPr>
        <p:spPr>
          <a:xfrm>
            <a:off x="3886200" y="4041648"/>
            <a:ext cx="1280160" cy="411480"/>
          </a:xfrm>
          <a:prstGeom prst="rect">
            <a:avLst/>
          </a:prstGeom>
          <a:noFill/>
          <a:ln/>
        </p:spPr>
        <p:txBody>
          <a:bodyPr wrap="square" lIns="0" tIns="0" rIns="0" bIns="0" rtlCol="0" anchor="t"/>
          <a:lstStyle/>
          <a:p>
            <a:pPr indent="0" marL="0">
              <a:buNone/>
            </a:pPr>
            <a:r>
              <a:rPr lang="en-US" sz="1000" dirty="0">
                <a:solidFill>
                  <a:srgbClr val="B3ADC0"/>
                </a:solidFill>
                <a:latin typeface="Calibri" pitchFamily="34" charset="0"/>
                <a:ea typeface="Calibri" pitchFamily="34" charset="-122"/>
                <a:cs typeface="Calibri" pitchFamily="34" charset="-120"/>
              </a:rPr>
              <a:t>apps to download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What’s in it for The Garlic Farm</a:t>
            </a:r>
            <a:endParaRPr lang="en-US" sz="2800" dirty="0"/>
          </a:p>
        </p:txBody>
      </p:sp>
      <p:sp>
        <p:nvSpPr>
          <p:cNvPr id="4" name="Text 2"/>
          <p:cNvSpPr txBox="1"/>
          <p:nvPr/>
        </p:nvSpPr>
        <p:spPr>
          <a:xfrm>
            <a:off x="457200" y="1024128"/>
            <a:ext cx="7863840" cy="411480"/>
          </a:xfrm>
          <a:prstGeom prst="rect">
            <a:avLst/>
          </a:prstGeom>
          <a:noFill/>
          <a:ln/>
        </p:spPr>
        <p:txBody>
          <a:bodyPr wrap="square" lIns="0" tIns="0" rIns="0" bIns="0" rtlCol="0" anchor="t"/>
          <a:lstStyle/>
          <a:p>
            <a:pPr indent="0" marL="0">
              <a:buNone/>
            </a:pPr>
            <a:r>
              <a:rPr lang="en-US" sz="1300" dirty="0">
                <a:solidFill>
                  <a:srgbClr val="B3ADC0"/>
                </a:solidFill>
                <a:latin typeface="Calibri" pitchFamily="34" charset="0"/>
                <a:ea typeface="Calibri" pitchFamily="34" charset="-122"/>
                <a:cs typeface="Calibri" pitchFamily="34" charset="-120"/>
              </a:rPr>
              <a:t>A new reason to visit, built entirely around what the farm already does well.</a:t>
            </a:r>
            <a:endParaRPr lang="en-US" sz="1300" dirty="0"/>
          </a:p>
        </p:txBody>
      </p:sp>
      <p:sp>
        <p:nvSpPr>
          <p:cNvPr id="5" name="Text 3"/>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03</a:t>
            </a:r>
            <a:endParaRPr lang="en-US" sz="800" dirty="0"/>
          </a:p>
        </p:txBody>
      </p:sp>
      <p:sp>
        <p:nvSpPr>
          <p:cNvPr id="6" name="Shape 4"/>
          <p:cNvSpPr/>
          <p:nvPr/>
        </p:nvSpPr>
        <p:spPr>
          <a:xfrm>
            <a:off x="457200" y="1572768"/>
            <a:ext cx="2606040" cy="1463040"/>
          </a:xfrm>
          <a:prstGeom prst="roundRect">
            <a:avLst>
              <a:gd name="adj" fmla="val 5000"/>
            </a:avLst>
          </a:prstGeom>
          <a:solidFill>
            <a:srgbClr val="221D2F"/>
          </a:solidFill>
          <a:ln w="12700">
            <a:solidFill>
              <a:srgbClr val="221D2F"/>
            </a:solidFill>
            <a:prstDash val="solid"/>
          </a:ln>
        </p:spPr>
      </p:sp>
      <p:sp>
        <p:nvSpPr>
          <p:cNvPr id="7" name="Text 5"/>
          <p:cNvSpPr txBox="1"/>
          <p:nvPr/>
        </p:nvSpPr>
        <p:spPr>
          <a:xfrm>
            <a:off x="640080" y="1709928"/>
            <a:ext cx="548640" cy="320040"/>
          </a:xfrm>
          <a:prstGeom prst="rect">
            <a:avLst/>
          </a:prstGeom>
          <a:noFill/>
          <a:ln/>
        </p:spPr>
        <p:txBody>
          <a:bodyPr wrap="square" lIns="0" tIns="0" rIns="0" bIns="0" rtlCol="0" anchor="t"/>
          <a:lstStyle/>
          <a:p>
            <a:pPr indent="0" marL="0">
              <a:buNone/>
            </a:pPr>
            <a:r>
              <a:rPr lang="en-US" sz="1600" dirty="0">
                <a:solidFill>
                  <a:srgbClr val="D9A04A"/>
                </a:solidFill>
                <a:latin typeface="Cambria" pitchFamily="34" charset="0"/>
                <a:ea typeface="Cambria" pitchFamily="34" charset="-122"/>
                <a:cs typeface="Cambria" pitchFamily="34" charset="-120"/>
              </a:rPr>
              <a:t>01</a:t>
            </a:r>
            <a:endParaRPr lang="en-US" sz="1600" dirty="0"/>
          </a:p>
        </p:txBody>
      </p:sp>
      <p:sp>
        <p:nvSpPr>
          <p:cNvPr id="8" name="Text 6"/>
          <p:cNvSpPr txBox="1"/>
          <p:nvPr/>
        </p:nvSpPr>
        <p:spPr>
          <a:xfrm>
            <a:off x="640080" y="2029968"/>
            <a:ext cx="2286000" cy="274320"/>
          </a:xfrm>
          <a:prstGeom prst="rect">
            <a:avLst/>
          </a:prstGeom>
          <a:noFill/>
          <a:ln/>
        </p:spPr>
        <p:txBody>
          <a:bodyPr wrap="square" lIns="0" tIns="0" rIns="0" bIns="0" rtlCol="0" anchor="t"/>
          <a:lstStyle/>
          <a:p>
            <a:pPr indent="0" marL="0">
              <a:buNone/>
            </a:pPr>
            <a:r>
              <a:rPr lang="en-US" sz="1300" b="1" dirty="0">
                <a:solidFill>
                  <a:srgbClr val="F3EEE4"/>
                </a:solidFill>
                <a:latin typeface="Calibri" pitchFamily="34" charset="0"/>
                <a:ea typeface="Calibri" pitchFamily="34" charset="-122"/>
                <a:cs typeface="Calibri" pitchFamily="34" charset="-120"/>
              </a:rPr>
              <a:t>A fresh reason to visit</a:t>
            </a:r>
            <a:endParaRPr lang="en-US" sz="1300" dirty="0"/>
          </a:p>
        </p:txBody>
      </p:sp>
      <p:sp>
        <p:nvSpPr>
          <p:cNvPr id="9" name="Text 7"/>
          <p:cNvSpPr txBox="1"/>
          <p:nvPr/>
        </p:nvSpPr>
        <p:spPr>
          <a:xfrm>
            <a:off x="640080" y="2350008"/>
            <a:ext cx="2286000" cy="64008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A story families can only finish at the farm, launched with a film made for your own channels.</a:t>
            </a:r>
            <a:endParaRPr lang="en-US" sz="1050" dirty="0"/>
          </a:p>
        </p:txBody>
      </p:sp>
      <p:sp>
        <p:nvSpPr>
          <p:cNvPr id="10" name="Shape 8"/>
          <p:cNvSpPr/>
          <p:nvPr/>
        </p:nvSpPr>
        <p:spPr>
          <a:xfrm>
            <a:off x="3246120" y="1572768"/>
            <a:ext cx="2606040" cy="1463040"/>
          </a:xfrm>
          <a:prstGeom prst="roundRect">
            <a:avLst>
              <a:gd name="adj" fmla="val 5000"/>
            </a:avLst>
          </a:prstGeom>
          <a:solidFill>
            <a:srgbClr val="221D2F"/>
          </a:solidFill>
          <a:ln w="12700">
            <a:solidFill>
              <a:srgbClr val="221D2F"/>
            </a:solidFill>
            <a:prstDash val="solid"/>
          </a:ln>
        </p:spPr>
      </p:sp>
      <p:sp>
        <p:nvSpPr>
          <p:cNvPr id="11" name="Text 9"/>
          <p:cNvSpPr txBox="1"/>
          <p:nvPr/>
        </p:nvSpPr>
        <p:spPr>
          <a:xfrm>
            <a:off x="3429000" y="1709928"/>
            <a:ext cx="548640" cy="320040"/>
          </a:xfrm>
          <a:prstGeom prst="rect">
            <a:avLst/>
          </a:prstGeom>
          <a:noFill/>
          <a:ln/>
        </p:spPr>
        <p:txBody>
          <a:bodyPr wrap="square" lIns="0" tIns="0" rIns="0" bIns="0" rtlCol="0" anchor="t"/>
          <a:lstStyle/>
          <a:p>
            <a:pPr indent="0" marL="0">
              <a:buNone/>
            </a:pPr>
            <a:r>
              <a:rPr lang="en-US" sz="1600" dirty="0">
                <a:solidFill>
                  <a:srgbClr val="D9A04A"/>
                </a:solidFill>
                <a:latin typeface="Cambria" pitchFamily="34" charset="0"/>
                <a:ea typeface="Cambria" pitchFamily="34" charset="-122"/>
                <a:cs typeface="Cambria" pitchFamily="34" charset="-120"/>
              </a:rPr>
              <a:t>02</a:t>
            </a:r>
            <a:endParaRPr lang="en-US" sz="1600" dirty="0"/>
          </a:p>
        </p:txBody>
      </p:sp>
      <p:sp>
        <p:nvSpPr>
          <p:cNvPr id="12" name="Text 10"/>
          <p:cNvSpPr txBox="1"/>
          <p:nvPr/>
        </p:nvSpPr>
        <p:spPr>
          <a:xfrm>
            <a:off x="3429000" y="2029968"/>
            <a:ext cx="2286000" cy="274320"/>
          </a:xfrm>
          <a:prstGeom prst="rect">
            <a:avLst/>
          </a:prstGeom>
          <a:noFill/>
          <a:ln/>
        </p:spPr>
        <p:txBody>
          <a:bodyPr wrap="square" lIns="0" tIns="0" rIns="0" bIns="0" rtlCol="0" anchor="t"/>
          <a:lstStyle/>
          <a:p>
            <a:pPr indent="0" marL="0">
              <a:buNone/>
            </a:pPr>
            <a:r>
              <a:rPr lang="en-US" sz="1300" b="1" dirty="0">
                <a:solidFill>
                  <a:srgbClr val="F3EEE4"/>
                </a:solidFill>
                <a:latin typeface="Calibri" pitchFamily="34" charset="0"/>
                <a:ea typeface="Calibri" pitchFamily="34" charset="-122"/>
                <a:cs typeface="Calibri" pitchFamily="34" charset="-120"/>
              </a:rPr>
              <a:t>Longer, richer visits</a:t>
            </a:r>
            <a:endParaRPr lang="en-US" sz="1300" dirty="0"/>
          </a:p>
        </p:txBody>
      </p:sp>
      <p:sp>
        <p:nvSpPr>
          <p:cNvPr id="13" name="Text 11"/>
          <p:cNvSpPr txBox="1"/>
          <p:nvPr/>
        </p:nvSpPr>
        <p:spPr>
          <a:xfrm>
            <a:off x="3429000" y="2350008"/>
            <a:ext cx="2286000" cy="64008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Three short stops draw attention to the land, the growing year and the craft behind your products.</a:t>
            </a:r>
            <a:endParaRPr lang="en-US" sz="1050" dirty="0"/>
          </a:p>
        </p:txBody>
      </p:sp>
      <p:sp>
        <p:nvSpPr>
          <p:cNvPr id="14" name="Shape 12"/>
          <p:cNvSpPr/>
          <p:nvPr/>
        </p:nvSpPr>
        <p:spPr>
          <a:xfrm>
            <a:off x="6035040" y="1572768"/>
            <a:ext cx="2606040" cy="1463040"/>
          </a:xfrm>
          <a:prstGeom prst="roundRect">
            <a:avLst>
              <a:gd name="adj" fmla="val 5000"/>
            </a:avLst>
          </a:prstGeom>
          <a:solidFill>
            <a:srgbClr val="221D2F"/>
          </a:solidFill>
          <a:ln w="12700">
            <a:solidFill>
              <a:srgbClr val="221D2F"/>
            </a:solidFill>
            <a:prstDash val="solid"/>
          </a:ln>
        </p:spPr>
      </p:sp>
      <p:sp>
        <p:nvSpPr>
          <p:cNvPr id="15" name="Text 13"/>
          <p:cNvSpPr txBox="1"/>
          <p:nvPr/>
        </p:nvSpPr>
        <p:spPr>
          <a:xfrm>
            <a:off x="6217920" y="1709928"/>
            <a:ext cx="548640" cy="320040"/>
          </a:xfrm>
          <a:prstGeom prst="rect">
            <a:avLst/>
          </a:prstGeom>
          <a:noFill/>
          <a:ln/>
        </p:spPr>
        <p:txBody>
          <a:bodyPr wrap="square" lIns="0" tIns="0" rIns="0" bIns="0" rtlCol="0" anchor="t"/>
          <a:lstStyle/>
          <a:p>
            <a:pPr indent="0" marL="0">
              <a:buNone/>
            </a:pPr>
            <a:r>
              <a:rPr lang="en-US" sz="1600" dirty="0">
                <a:solidFill>
                  <a:srgbClr val="D9A04A"/>
                </a:solidFill>
                <a:latin typeface="Cambria" pitchFamily="34" charset="0"/>
                <a:ea typeface="Cambria" pitchFamily="34" charset="-122"/>
                <a:cs typeface="Cambria" pitchFamily="34" charset="-120"/>
              </a:rPr>
              <a:t>03</a:t>
            </a:r>
            <a:endParaRPr lang="en-US" sz="1600" dirty="0"/>
          </a:p>
        </p:txBody>
      </p:sp>
      <p:sp>
        <p:nvSpPr>
          <p:cNvPr id="16" name="Text 14"/>
          <p:cNvSpPr txBox="1"/>
          <p:nvPr/>
        </p:nvSpPr>
        <p:spPr>
          <a:xfrm>
            <a:off x="6217920" y="2029968"/>
            <a:ext cx="2286000" cy="274320"/>
          </a:xfrm>
          <a:prstGeom prst="rect">
            <a:avLst/>
          </a:prstGeom>
          <a:noFill/>
          <a:ln/>
        </p:spPr>
        <p:txBody>
          <a:bodyPr wrap="square" lIns="0" tIns="0" rIns="0" bIns="0" rtlCol="0" anchor="t"/>
          <a:lstStyle/>
          <a:p>
            <a:pPr indent="0" marL="0">
              <a:buNone/>
            </a:pPr>
            <a:r>
              <a:rPr lang="en-US" sz="1300" b="1" dirty="0">
                <a:solidFill>
                  <a:srgbClr val="F3EEE4"/>
                </a:solidFill>
                <a:latin typeface="Calibri" pitchFamily="34" charset="0"/>
                <a:ea typeface="Calibri" pitchFamily="34" charset="-122"/>
                <a:cs typeface="Calibri" pitchFamily="34" charset="-120"/>
              </a:rPr>
              <a:t>Sales steered where you choose</a:t>
            </a:r>
            <a:endParaRPr lang="en-US" sz="1300" dirty="0"/>
          </a:p>
        </p:txBody>
      </p:sp>
      <p:sp>
        <p:nvSpPr>
          <p:cNvPr id="17" name="Text 15"/>
          <p:cNvSpPr txBox="1"/>
          <p:nvPr/>
        </p:nvSpPr>
        <p:spPr>
          <a:xfrm>
            <a:off x="6217920" y="2350008"/>
            <a:ext cx="2286000" cy="64008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Every visit ends with a next step you pick: a tasting, a product, a table or the shop.</a:t>
            </a:r>
            <a:endParaRPr lang="en-US" sz="1050" dirty="0"/>
          </a:p>
        </p:txBody>
      </p:sp>
      <p:sp>
        <p:nvSpPr>
          <p:cNvPr id="18" name="Shape 16"/>
          <p:cNvSpPr/>
          <p:nvPr/>
        </p:nvSpPr>
        <p:spPr>
          <a:xfrm>
            <a:off x="457200" y="3200400"/>
            <a:ext cx="2606040" cy="1463040"/>
          </a:xfrm>
          <a:prstGeom prst="roundRect">
            <a:avLst>
              <a:gd name="adj" fmla="val 5000"/>
            </a:avLst>
          </a:prstGeom>
          <a:solidFill>
            <a:srgbClr val="221D2F"/>
          </a:solidFill>
          <a:ln w="12700">
            <a:solidFill>
              <a:srgbClr val="221D2F"/>
            </a:solidFill>
            <a:prstDash val="solid"/>
          </a:ln>
        </p:spPr>
      </p:sp>
      <p:sp>
        <p:nvSpPr>
          <p:cNvPr id="19" name="Text 17"/>
          <p:cNvSpPr txBox="1"/>
          <p:nvPr/>
        </p:nvSpPr>
        <p:spPr>
          <a:xfrm>
            <a:off x="640080" y="3337560"/>
            <a:ext cx="548640" cy="320040"/>
          </a:xfrm>
          <a:prstGeom prst="rect">
            <a:avLst/>
          </a:prstGeom>
          <a:noFill/>
          <a:ln/>
        </p:spPr>
        <p:txBody>
          <a:bodyPr wrap="square" lIns="0" tIns="0" rIns="0" bIns="0" rtlCol="0" anchor="t"/>
          <a:lstStyle/>
          <a:p>
            <a:pPr indent="0" marL="0">
              <a:buNone/>
            </a:pPr>
            <a:r>
              <a:rPr lang="en-US" sz="1600" dirty="0">
                <a:solidFill>
                  <a:srgbClr val="D9A04A"/>
                </a:solidFill>
                <a:latin typeface="Cambria" pitchFamily="34" charset="0"/>
                <a:ea typeface="Cambria" pitchFamily="34" charset="-122"/>
                <a:cs typeface="Cambria" pitchFamily="34" charset="-120"/>
              </a:rPr>
              <a:t>04</a:t>
            </a:r>
            <a:endParaRPr lang="en-US" sz="1600" dirty="0"/>
          </a:p>
        </p:txBody>
      </p:sp>
      <p:sp>
        <p:nvSpPr>
          <p:cNvPr id="20" name="Text 18"/>
          <p:cNvSpPr txBox="1"/>
          <p:nvPr/>
        </p:nvSpPr>
        <p:spPr>
          <a:xfrm>
            <a:off x="640080" y="3657600"/>
            <a:ext cx="2286000" cy="274320"/>
          </a:xfrm>
          <a:prstGeom prst="rect">
            <a:avLst/>
          </a:prstGeom>
          <a:noFill/>
          <a:ln/>
        </p:spPr>
        <p:txBody>
          <a:bodyPr wrap="square" lIns="0" tIns="0" rIns="0" bIns="0" rtlCol="0" anchor="t"/>
          <a:lstStyle/>
          <a:p>
            <a:pPr indent="0" marL="0">
              <a:buNone/>
            </a:pPr>
            <a:r>
              <a:rPr lang="en-US" sz="1300" b="1" dirty="0">
                <a:solidFill>
                  <a:srgbClr val="F3EEE4"/>
                </a:solidFill>
                <a:latin typeface="Calibri" pitchFamily="34" charset="0"/>
                <a:ea typeface="Calibri" pitchFamily="34" charset="-122"/>
                <a:cs typeface="Calibri" pitchFamily="34" charset="-120"/>
              </a:rPr>
              <a:t>Content you keep using</a:t>
            </a:r>
            <a:endParaRPr lang="en-US" sz="1300" dirty="0"/>
          </a:p>
        </p:txBody>
      </p:sp>
      <p:sp>
        <p:nvSpPr>
          <p:cNvPr id="21" name="Text 19"/>
          <p:cNvSpPr txBox="1"/>
          <p:nvPr/>
        </p:nvSpPr>
        <p:spPr>
          <a:xfrm>
            <a:off x="640080" y="3977640"/>
            <a:ext cx="2286000" cy="64008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A hero film, short edits, stills and captions for social media, your website and on-site screens.</a:t>
            </a:r>
            <a:endParaRPr lang="en-US" sz="1050" dirty="0"/>
          </a:p>
        </p:txBody>
      </p:sp>
      <p:sp>
        <p:nvSpPr>
          <p:cNvPr id="22" name="Shape 20"/>
          <p:cNvSpPr/>
          <p:nvPr/>
        </p:nvSpPr>
        <p:spPr>
          <a:xfrm>
            <a:off x="3246120" y="3200400"/>
            <a:ext cx="2606040" cy="1463040"/>
          </a:xfrm>
          <a:prstGeom prst="roundRect">
            <a:avLst>
              <a:gd name="adj" fmla="val 5000"/>
            </a:avLst>
          </a:prstGeom>
          <a:solidFill>
            <a:srgbClr val="221D2F"/>
          </a:solidFill>
          <a:ln w="12700">
            <a:solidFill>
              <a:srgbClr val="221D2F"/>
            </a:solidFill>
            <a:prstDash val="solid"/>
          </a:ln>
        </p:spPr>
      </p:sp>
      <p:sp>
        <p:nvSpPr>
          <p:cNvPr id="23" name="Text 21"/>
          <p:cNvSpPr txBox="1"/>
          <p:nvPr/>
        </p:nvSpPr>
        <p:spPr>
          <a:xfrm>
            <a:off x="3429000" y="3337560"/>
            <a:ext cx="548640" cy="320040"/>
          </a:xfrm>
          <a:prstGeom prst="rect">
            <a:avLst/>
          </a:prstGeom>
          <a:noFill/>
          <a:ln/>
        </p:spPr>
        <p:txBody>
          <a:bodyPr wrap="square" lIns="0" tIns="0" rIns="0" bIns="0" rtlCol="0" anchor="t"/>
          <a:lstStyle/>
          <a:p>
            <a:pPr indent="0" marL="0">
              <a:buNone/>
            </a:pPr>
            <a:r>
              <a:rPr lang="en-US" sz="1600" dirty="0">
                <a:solidFill>
                  <a:srgbClr val="D9A04A"/>
                </a:solidFill>
                <a:latin typeface="Cambria" pitchFamily="34" charset="0"/>
                <a:ea typeface="Cambria" pitchFamily="34" charset="-122"/>
                <a:cs typeface="Cambria" pitchFamily="34" charset="-120"/>
              </a:rPr>
              <a:t>05</a:t>
            </a:r>
            <a:endParaRPr lang="en-US" sz="1600" dirty="0"/>
          </a:p>
        </p:txBody>
      </p:sp>
      <p:sp>
        <p:nvSpPr>
          <p:cNvPr id="24" name="Text 22"/>
          <p:cNvSpPr txBox="1"/>
          <p:nvPr/>
        </p:nvSpPr>
        <p:spPr>
          <a:xfrm>
            <a:off x="3429000" y="3657600"/>
            <a:ext cx="2286000" cy="274320"/>
          </a:xfrm>
          <a:prstGeom prst="rect">
            <a:avLst/>
          </a:prstGeom>
          <a:noFill/>
          <a:ln/>
        </p:spPr>
        <p:txBody>
          <a:bodyPr wrap="square" lIns="0" tIns="0" rIns="0" bIns="0" rtlCol="0" anchor="t"/>
          <a:lstStyle/>
          <a:p>
            <a:pPr indent="0" marL="0">
              <a:buNone/>
            </a:pPr>
            <a:r>
              <a:rPr lang="en-US" sz="1300" b="1" dirty="0">
                <a:solidFill>
                  <a:srgbClr val="F3EEE4"/>
                </a:solidFill>
                <a:latin typeface="Calibri" pitchFamily="34" charset="0"/>
                <a:ea typeface="Calibri" pitchFamily="34" charset="-122"/>
                <a:cs typeface="Calibri" pitchFamily="34" charset="-120"/>
              </a:rPr>
              <a:t>Nothing new to build</a:t>
            </a:r>
            <a:endParaRPr lang="en-US" sz="1300" dirty="0"/>
          </a:p>
        </p:txBody>
      </p:sp>
      <p:sp>
        <p:nvSpPr>
          <p:cNvPr id="25" name="Text 23"/>
          <p:cNvSpPr txBox="1"/>
          <p:nvPr/>
        </p:nvSpPr>
        <p:spPr>
          <a:xfrm>
            <a:off x="3429000" y="3977640"/>
            <a:ext cx="2286000" cy="64008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No app, no new attraction and no sign-up needed to take part. Just small cards on existing routes.</a:t>
            </a:r>
            <a:endParaRPr lang="en-US" sz="1050" dirty="0"/>
          </a:p>
        </p:txBody>
      </p:sp>
      <p:sp>
        <p:nvSpPr>
          <p:cNvPr id="26" name="Shape 24"/>
          <p:cNvSpPr/>
          <p:nvPr/>
        </p:nvSpPr>
        <p:spPr>
          <a:xfrm>
            <a:off x="6035040" y="3200400"/>
            <a:ext cx="2606040" cy="1463040"/>
          </a:xfrm>
          <a:prstGeom prst="roundRect">
            <a:avLst>
              <a:gd name="adj" fmla="val 5000"/>
            </a:avLst>
          </a:prstGeom>
          <a:solidFill>
            <a:srgbClr val="221D2F"/>
          </a:solidFill>
          <a:ln w="12700">
            <a:solidFill>
              <a:srgbClr val="221D2F"/>
            </a:solidFill>
            <a:prstDash val="solid"/>
          </a:ln>
        </p:spPr>
      </p:sp>
      <p:sp>
        <p:nvSpPr>
          <p:cNvPr id="27" name="Text 25"/>
          <p:cNvSpPr txBox="1"/>
          <p:nvPr/>
        </p:nvSpPr>
        <p:spPr>
          <a:xfrm>
            <a:off x="6217920" y="3337560"/>
            <a:ext cx="548640" cy="320040"/>
          </a:xfrm>
          <a:prstGeom prst="rect">
            <a:avLst/>
          </a:prstGeom>
          <a:noFill/>
          <a:ln/>
        </p:spPr>
        <p:txBody>
          <a:bodyPr wrap="square" lIns="0" tIns="0" rIns="0" bIns="0" rtlCol="0" anchor="t"/>
          <a:lstStyle/>
          <a:p>
            <a:pPr indent="0" marL="0">
              <a:buNone/>
            </a:pPr>
            <a:r>
              <a:rPr lang="en-US" sz="1600" dirty="0">
                <a:solidFill>
                  <a:srgbClr val="D9A04A"/>
                </a:solidFill>
                <a:latin typeface="Cambria" pitchFamily="34" charset="0"/>
                <a:ea typeface="Cambria" pitchFamily="34" charset="-122"/>
                <a:cs typeface="Cambria" pitchFamily="34" charset="-120"/>
              </a:rPr>
              <a:t>06</a:t>
            </a:r>
            <a:endParaRPr lang="en-US" sz="1600" dirty="0"/>
          </a:p>
        </p:txBody>
      </p:sp>
      <p:sp>
        <p:nvSpPr>
          <p:cNvPr id="28" name="Text 26"/>
          <p:cNvSpPr txBox="1"/>
          <p:nvPr/>
        </p:nvSpPr>
        <p:spPr>
          <a:xfrm>
            <a:off x="6217920" y="3657600"/>
            <a:ext cx="2286000" cy="274320"/>
          </a:xfrm>
          <a:prstGeom prst="rect">
            <a:avLst/>
          </a:prstGeom>
          <a:noFill/>
          <a:ln/>
        </p:spPr>
        <p:txBody>
          <a:bodyPr wrap="square" lIns="0" tIns="0" rIns="0" bIns="0" rtlCol="0" anchor="t"/>
          <a:lstStyle/>
          <a:p>
            <a:pPr indent="0" marL="0">
              <a:buNone/>
            </a:pPr>
            <a:r>
              <a:rPr lang="en-US" sz="1300" b="1" dirty="0">
                <a:solidFill>
                  <a:srgbClr val="F3EEE4"/>
                </a:solidFill>
                <a:latin typeface="Calibri" pitchFamily="34" charset="0"/>
                <a:ea typeface="Calibri" pitchFamily="34" charset="-122"/>
                <a:cs typeface="Calibri" pitchFamily="34" charset="-120"/>
              </a:rPr>
              <a:t>Evidence, not promises</a:t>
            </a:r>
            <a:endParaRPr lang="en-US" sz="1300" dirty="0"/>
          </a:p>
        </p:txBody>
      </p:sp>
      <p:sp>
        <p:nvSpPr>
          <p:cNvPr id="29" name="Text 27"/>
          <p:cNvSpPr txBox="1"/>
          <p:nvPr/>
        </p:nvSpPr>
        <p:spPr>
          <a:xfrm>
            <a:off x="6217920" y="3977640"/>
            <a:ext cx="2286000" cy="64008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You see scans, completions and clicks towards shop, menu and book, then decide what happens next.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The story behind it</a:t>
            </a:r>
            <a:endParaRPr lang="en-US" sz="2800" dirty="0"/>
          </a:p>
        </p:txBody>
      </p:sp>
      <p:sp>
        <p:nvSpPr>
          <p:cNvPr id="4" name="Text 2"/>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04</a:t>
            </a:r>
            <a:endParaRPr lang="en-US" sz="800" dirty="0"/>
          </a:p>
        </p:txBody>
      </p:sp>
      <p:sp>
        <p:nvSpPr>
          <p:cNvPr id="5" name="Text 3"/>
          <p:cNvSpPr txBox="1"/>
          <p:nvPr/>
        </p:nvSpPr>
        <p:spPr>
          <a:xfrm>
            <a:off x="457200" y="1097280"/>
            <a:ext cx="8138160" cy="685800"/>
          </a:xfrm>
          <a:prstGeom prst="rect">
            <a:avLst/>
          </a:prstGeom>
          <a:noFill/>
          <a:ln/>
        </p:spPr>
        <p:txBody>
          <a:bodyPr wrap="square" lIns="0" tIns="0" rIns="0" bIns="0" rtlCol="0" anchor="t"/>
          <a:lstStyle/>
          <a:p>
            <a:pPr indent="0" marL="0">
              <a:buNone/>
            </a:pPr>
            <a:r>
              <a:rPr lang="en-US" sz="1300" dirty="0">
                <a:solidFill>
                  <a:srgbClr val="F3EEE4"/>
                </a:solidFill>
                <a:latin typeface="Calibri" pitchFamily="34" charset="0"/>
                <a:ea typeface="Calibri" pitchFamily="34" charset="-122"/>
                <a:cs typeface="Calibri" pitchFamily="34" charset="-120"/>
              </a:rPr>
              <a:t>Peter J Murray’s The Darker Side of Wight brings a darker edge to real Island places. Shrouded in Garlic takes that world to the farm through Matty, a young visitor who finds that garlic, light and reflection are clues to something unexplained.</a:t>
            </a:r>
            <a:endParaRPr lang="en-US" sz="1300" dirty="0"/>
          </a:p>
        </p:txBody>
      </p:sp>
      <p:sp>
        <p:nvSpPr>
          <p:cNvPr id="6" name="Text 4"/>
          <p:cNvSpPr txBox="1"/>
          <p:nvPr/>
        </p:nvSpPr>
        <p:spPr>
          <a:xfrm>
            <a:off x="457200" y="1810512"/>
            <a:ext cx="8138160" cy="274320"/>
          </a:xfrm>
          <a:prstGeom prst="rect">
            <a:avLst/>
          </a:prstGeom>
          <a:noFill/>
          <a:ln/>
        </p:spPr>
        <p:txBody>
          <a:bodyPr wrap="square" lIns="0" tIns="0" rIns="0" bIns="0" rtlCol="0" anchor="t"/>
          <a:lstStyle/>
          <a:p>
            <a:pPr indent="0" marL="0">
              <a:buNone/>
            </a:pPr>
            <a:r>
              <a:rPr lang="en-US" sz="1100" i="1" dirty="0">
                <a:solidFill>
                  <a:srgbClr val="D9A04A"/>
                </a:solidFill>
                <a:latin typeface="Calibri" pitchFamily="34" charset="0"/>
                <a:ea typeface="Calibri" pitchFamily="34" charset="-122"/>
                <a:cs typeface="Calibri" pitchFamily="34" charset="-120"/>
              </a:rPr>
              <a:t>Atmospheric rather than frightening. Pete and the farm agree the tone for a family audience.</a:t>
            </a:r>
            <a:endParaRPr lang="en-US" sz="1100" dirty="0"/>
          </a:p>
        </p:txBody>
      </p:sp>
      <p:pic>
        <p:nvPicPr>
          <p:cNvPr id="7" name="Image 0" descr="/tmp/claude-0/-home-claude/44c6354d-2ed6-549b-8a9d-d752d4a7ab5e/scratchpad/build/img/c_garlic_frame.jpg">    </p:cNvPr>
          <p:cNvPicPr>
            <a:picLocks noChangeAspect="1"/>
          </p:cNvPicPr>
          <p:nvPr/>
        </p:nvPicPr>
        <p:blipFill>
          <a:blip r:embed="rId1"/>
          <a:stretch>
            <a:fillRect/>
          </a:stretch>
        </p:blipFill>
        <p:spPr>
          <a:xfrm>
            <a:off x="457200" y="2286000"/>
            <a:ext cx="1920240" cy="1737360"/>
          </a:xfrm>
          <a:prstGeom prst="rect">
            <a:avLst/>
          </a:prstGeom>
        </p:spPr>
      </p:pic>
      <p:sp>
        <p:nvSpPr>
          <p:cNvPr id="8" name="Text 5"/>
          <p:cNvSpPr txBox="1"/>
          <p:nvPr/>
        </p:nvSpPr>
        <p:spPr>
          <a:xfrm>
            <a:off x="457200" y="4114800"/>
            <a:ext cx="1920240" cy="182880"/>
          </a:xfrm>
          <a:prstGeom prst="rect">
            <a:avLst/>
          </a:prstGeom>
          <a:noFill/>
          <a:ln/>
        </p:spPr>
        <p:txBody>
          <a:bodyPr wrap="square" lIns="0" tIns="0" rIns="0" bIns="0" rtlCol="0" anchor="t"/>
          <a:lstStyle/>
          <a:p>
            <a:pPr indent="0" marL="0">
              <a:buNone/>
            </a:pPr>
            <a:r>
              <a:rPr lang="en-US" sz="900" b="1" spc="100" kern="0" dirty="0">
                <a:solidFill>
                  <a:srgbClr val="D9A04A"/>
                </a:solidFill>
                <a:latin typeface="Calibri" pitchFamily="34" charset="0"/>
                <a:ea typeface="Calibri" pitchFamily="34" charset="-122"/>
                <a:cs typeface="Calibri" pitchFamily="34" charset="-120"/>
              </a:rPr>
              <a:t>00:13</a:t>
            </a:r>
            <a:endParaRPr lang="en-US" sz="900" dirty="0"/>
          </a:p>
        </p:txBody>
      </p:sp>
      <p:sp>
        <p:nvSpPr>
          <p:cNvPr id="9" name="Text 6"/>
          <p:cNvSpPr txBox="1"/>
          <p:nvPr/>
        </p:nvSpPr>
        <p:spPr>
          <a:xfrm>
            <a:off x="457200" y="4297680"/>
            <a:ext cx="1920240" cy="228600"/>
          </a:xfrm>
          <a:prstGeom prst="rect">
            <a:avLst/>
          </a:prstGeom>
          <a:noFill/>
          <a:ln/>
        </p:spPr>
        <p:txBody>
          <a:bodyPr wrap="square" lIns="0" tIns="0" rIns="0" bIns="0" rtlCol="0" anchor="t"/>
          <a:lstStyle/>
          <a:p>
            <a:pPr indent="0" marL="0">
              <a:buNone/>
            </a:pPr>
            <a:r>
              <a:rPr lang="en-US" sz="1100" dirty="0">
                <a:solidFill>
                  <a:srgbClr val="F3EEE4"/>
                </a:solidFill>
                <a:latin typeface="Calibri" pitchFamily="34" charset="0"/>
                <a:ea typeface="Calibri" pitchFamily="34" charset="-122"/>
                <a:cs typeface="Calibri" pitchFamily="34" charset="-120"/>
              </a:rPr>
              <a:t>The garlic turns</a:t>
            </a:r>
            <a:endParaRPr lang="en-US" sz="1100" dirty="0"/>
          </a:p>
        </p:txBody>
      </p:sp>
      <p:pic>
        <p:nvPicPr>
          <p:cNvPr id="10" name="Image 1" descr="/tmp/claude-0/-home-claude/44c6354d-2ed6-549b-8a9d-d752d4a7ab5e/scratchpad/build/img/c_cafe_frame.jpg">    </p:cNvPr>
          <p:cNvPicPr>
            <a:picLocks noChangeAspect="1"/>
          </p:cNvPicPr>
          <p:nvPr/>
        </p:nvPicPr>
        <p:blipFill>
          <a:blip r:embed="rId2"/>
          <a:stretch>
            <a:fillRect/>
          </a:stretch>
        </p:blipFill>
        <p:spPr>
          <a:xfrm>
            <a:off x="2560320" y="2286000"/>
            <a:ext cx="1920240" cy="1737360"/>
          </a:xfrm>
          <a:prstGeom prst="rect">
            <a:avLst/>
          </a:prstGeom>
        </p:spPr>
      </p:pic>
      <p:sp>
        <p:nvSpPr>
          <p:cNvPr id="11" name="Text 7"/>
          <p:cNvSpPr txBox="1"/>
          <p:nvPr/>
        </p:nvSpPr>
        <p:spPr>
          <a:xfrm>
            <a:off x="2560320" y="4114800"/>
            <a:ext cx="1920240" cy="182880"/>
          </a:xfrm>
          <a:prstGeom prst="rect">
            <a:avLst/>
          </a:prstGeom>
          <a:noFill/>
          <a:ln/>
        </p:spPr>
        <p:txBody>
          <a:bodyPr wrap="square" lIns="0" tIns="0" rIns="0" bIns="0" rtlCol="0" anchor="t"/>
          <a:lstStyle/>
          <a:p>
            <a:pPr indent="0" marL="0">
              <a:buNone/>
            </a:pPr>
            <a:r>
              <a:rPr lang="en-US" sz="900" b="1" spc="100" kern="0" dirty="0">
                <a:solidFill>
                  <a:srgbClr val="D9A04A"/>
                </a:solidFill>
                <a:latin typeface="Calibri" pitchFamily="34" charset="0"/>
                <a:ea typeface="Calibri" pitchFamily="34" charset="-122"/>
                <a:cs typeface="Calibri" pitchFamily="34" charset="-120"/>
              </a:rPr>
              <a:t>00:18</a:t>
            </a:r>
            <a:endParaRPr lang="en-US" sz="900" dirty="0"/>
          </a:p>
        </p:txBody>
      </p:sp>
      <p:sp>
        <p:nvSpPr>
          <p:cNvPr id="12" name="Text 8"/>
          <p:cNvSpPr txBox="1"/>
          <p:nvPr/>
        </p:nvSpPr>
        <p:spPr>
          <a:xfrm>
            <a:off x="2560320" y="4297680"/>
            <a:ext cx="1920240" cy="228600"/>
          </a:xfrm>
          <a:prstGeom prst="rect">
            <a:avLst/>
          </a:prstGeom>
          <a:noFill/>
          <a:ln/>
        </p:spPr>
        <p:txBody>
          <a:bodyPr wrap="square" lIns="0" tIns="0" rIns="0" bIns="0" rtlCol="0" anchor="t"/>
          <a:lstStyle/>
          <a:p>
            <a:pPr indent="0" marL="0">
              <a:buNone/>
            </a:pPr>
            <a:r>
              <a:rPr lang="en-US" sz="1100" dirty="0">
                <a:solidFill>
                  <a:srgbClr val="F3EEE4"/>
                </a:solidFill>
                <a:latin typeface="Calibri" pitchFamily="34" charset="0"/>
                <a:ea typeface="Calibri" pitchFamily="34" charset="-122"/>
                <a:cs typeface="Calibri" pitchFamily="34" charset="-120"/>
              </a:rPr>
              <a:t>Meet Matty</a:t>
            </a:r>
            <a:endParaRPr lang="en-US" sz="1100" dirty="0"/>
          </a:p>
        </p:txBody>
      </p:sp>
      <p:pic>
        <p:nvPicPr>
          <p:cNvPr id="13" name="Image 2" descr="/tmp/claude-0/-home-claude/44c6354d-2ed6-549b-8a9d-d752d4a7ab5e/scratchpad/build/img/c_tree_frame.jpg">    </p:cNvPr>
          <p:cNvPicPr>
            <a:picLocks noChangeAspect="1"/>
          </p:cNvPicPr>
          <p:nvPr/>
        </p:nvPicPr>
        <p:blipFill>
          <a:blip r:embed="rId3"/>
          <a:stretch>
            <a:fillRect/>
          </a:stretch>
        </p:blipFill>
        <p:spPr>
          <a:xfrm>
            <a:off x="4663440" y="2286000"/>
            <a:ext cx="1920240" cy="1737360"/>
          </a:xfrm>
          <a:prstGeom prst="rect">
            <a:avLst/>
          </a:prstGeom>
        </p:spPr>
      </p:pic>
      <p:sp>
        <p:nvSpPr>
          <p:cNvPr id="14" name="Text 9"/>
          <p:cNvSpPr txBox="1"/>
          <p:nvPr/>
        </p:nvSpPr>
        <p:spPr>
          <a:xfrm>
            <a:off x="4663440" y="4114800"/>
            <a:ext cx="1920240" cy="182880"/>
          </a:xfrm>
          <a:prstGeom prst="rect">
            <a:avLst/>
          </a:prstGeom>
          <a:noFill/>
          <a:ln/>
        </p:spPr>
        <p:txBody>
          <a:bodyPr wrap="square" lIns="0" tIns="0" rIns="0" bIns="0" rtlCol="0" anchor="t"/>
          <a:lstStyle/>
          <a:p>
            <a:pPr indent="0" marL="0">
              <a:buNone/>
            </a:pPr>
            <a:r>
              <a:rPr lang="en-US" sz="900" b="1" spc="100" kern="0" dirty="0">
                <a:solidFill>
                  <a:srgbClr val="D9A04A"/>
                </a:solidFill>
                <a:latin typeface="Calibri" pitchFamily="34" charset="0"/>
                <a:ea typeface="Calibri" pitchFamily="34" charset="-122"/>
                <a:cs typeface="Calibri" pitchFamily="34" charset="-120"/>
              </a:rPr>
              <a:t>00:39</a:t>
            </a:r>
            <a:endParaRPr lang="en-US" sz="900" dirty="0"/>
          </a:p>
        </p:txBody>
      </p:sp>
      <p:sp>
        <p:nvSpPr>
          <p:cNvPr id="15" name="Text 10"/>
          <p:cNvSpPr txBox="1"/>
          <p:nvPr/>
        </p:nvSpPr>
        <p:spPr>
          <a:xfrm>
            <a:off x="4663440" y="4297680"/>
            <a:ext cx="1920240" cy="228600"/>
          </a:xfrm>
          <a:prstGeom prst="rect">
            <a:avLst/>
          </a:prstGeom>
          <a:noFill/>
          <a:ln/>
        </p:spPr>
        <p:txBody>
          <a:bodyPr wrap="square" lIns="0" tIns="0" rIns="0" bIns="0" rtlCol="0" anchor="t"/>
          <a:lstStyle/>
          <a:p>
            <a:pPr indent="0" marL="0">
              <a:buNone/>
            </a:pPr>
            <a:r>
              <a:rPr lang="en-US" sz="1100" dirty="0">
                <a:solidFill>
                  <a:srgbClr val="F3EEE4"/>
                </a:solidFill>
                <a:latin typeface="Calibri" pitchFamily="34" charset="0"/>
                <a:ea typeface="Calibri" pitchFamily="34" charset="-122"/>
                <a:cs typeface="Calibri" pitchFamily="34" charset="-120"/>
              </a:rPr>
              <a:t>A shape crosses the moon</a:t>
            </a:r>
            <a:endParaRPr lang="en-US" sz="1100" dirty="0"/>
          </a:p>
        </p:txBody>
      </p:sp>
      <p:pic>
        <p:nvPicPr>
          <p:cNvPr id="16" name="Image 3" descr="/tmp/claude-0/-home-claude/44c6354d-2ed6-549b-8a9d-d752d4a7ab5e/scratchpad/build/img/c_phone_frame.jpg">    </p:cNvPr>
          <p:cNvPicPr>
            <a:picLocks noChangeAspect="1"/>
          </p:cNvPicPr>
          <p:nvPr/>
        </p:nvPicPr>
        <p:blipFill>
          <a:blip r:embed="rId4"/>
          <a:stretch>
            <a:fillRect/>
          </a:stretch>
        </p:blipFill>
        <p:spPr>
          <a:xfrm>
            <a:off x="6766560" y="2286000"/>
            <a:ext cx="1920240" cy="1737360"/>
          </a:xfrm>
          <a:prstGeom prst="rect">
            <a:avLst/>
          </a:prstGeom>
        </p:spPr>
      </p:pic>
      <p:sp>
        <p:nvSpPr>
          <p:cNvPr id="17" name="Text 11"/>
          <p:cNvSpPr txBox="1"/>
          <p:nvPr/>
        </p:nvSpPr>
        <p:spPr>
          <a:xfrm>
            <a:off x="6766560" y="4114800"/>
            <a:ext cx="1920240" cy="182880"/>
          </a:xfrm>
          <a:prstGeom prst="rect">
            <a:avLst/>
          </a:prstGeom>
          <a:noFill/>
          <a:ln/>
        </p:spPr>
        <p:txBody>
          <a:bodyPr wrap="square" lIns="0" tIns="0" rIns="0" bIns="0" rtlCol="0" anchor="t"/>
          <a:lstStyle/>
          <a:p>
            <a:pPr indent="0" marL="0">
              <a:buNone/>
            </a:pPr>
            <a:r>
              <a:rPr lang="en-US" sz="900" b="1" spc="100" kern="0" dirty="0">
                <a:solidFill>
                  <a:srgbClr val="D9A04A"/>
                </a:solidFill>
                <a:latin typeface="Calibri" pitchFamily="34" charset="0"/>
                <a:ea typeface="Calibri" pitchFamily="34" charset="-122"/>
                <a:cs typeface="Calibri" pitchFamily="34" charset="-120"/>
              </a:rPr>
              <a:t>00:42</a:t>
            </a:r>
            <a:endParaRPr lang="en-US" sz="900" dirty="0"/>
          </a:p>
        </p:txBody>
      </p:sp>
      <p:sp>
        <p:nvSpPr>
          <p:cNvPr id="18" name="Text 12"/>
          <p:cNvSpPr txBox="1"/>
          <p:nvPr/>
        </p:nvSpPr>
        <p:spPr>
          <a:xfrm>
            <a:off x="6766560" y="4297680"/>
            <a:ext cx="1920240" cy="228600"/>
          </a:xfrm>
          <a:prstGeom prst="rect">
            <a:avLst/>
          </a:prstGeom>
          <a:noFill/>
          <a:ln/>
        </p:spPr>
        <p:txBody>
          <a:bodyPr wrap="square" lIns="0" tIns="0" rIns="0" bIns="0" rtlCol="0" anchor="t"/>
          <a:lstStyle/>
          <a:p>
            <a:pPr indent="0" marL="0">
              <a:buNone/>
            </a:pPr>
            <a:r>
              <a:rPr lang="en-US" sz="1100" dirty="0">
                <a:solidFill>
                  <a:srgbClr val="F3EEE4"/>
                </a:solidFill>
                <a:latin typeface="Calibri" pitchFamily="34" charset="0"/>
                <a:ea typeface="Calibri" pitchFamily="34" charset="-122"/>
                <a:cs typeface="Calibri" pitchFamily="34" charset="-120"/>
              </a:rPr>
              <a:t>Scan at the real place</a:t>
            </a:r>
            <a:endParaRPr lang="en-US" sz="1100" dirty="0"/>
          </a:p>
        </p:txBody>
      </p:sp>
      <p:sp>
        <p:nvSpPr>
          <p:cNvPr id="19" name="Text 13"/>
          <p:cNvSpPr txBox="1"/>
          <p:nvPr/>
        </p:nvSpPr>
        <p:spPr>
          <a:xfrm>
            <a:off x="457200" y="4663440"/>
            <a:ext cx="7680960" cy="228600"/>
          </a:xfrm>
          <a:prstGeom prst="rect">
            <a:avLst/>
          </a:prstGeom>
          <a:noFill/>
          <a:ln/>
        </p:spPr>
        <p:txBody>
          <a:bodyPr wrap="square" lIns="0" tIns="0" rIns="0" bIns="0" rtlCol="0" anchor="t"/>
          <a:lstStyle/>
          <a:p>
            <a:pPr indent="0" marL="0">
              <a:buNone/>
            </a:pPr>
            <a:r>
              <a:rPr lang="en-US" sz="900" dirty="0">
                <a:solidFill>
                  <a:srgbClr val="B3ADC0"/>
                </a:solidFill>
                <a:latin typeface="Calibri" pitchFamily="34" charset="0"/>
                <a:ea typeface="Calibri" pitchFamily="34" charset="-122"/>
                <a:cs typeface="Calibri" pitchFamily="34" charset="-120"/>
              </a:rPr>
              <a:t>Frames from the existing 48-second concept film, which becomes the starting point for the finished film.</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How it works for a visitor</a:t>
            </a:r>
            <a:endParaRPr lang="en-US" sz="2800" dirty="0"/>
          </a:p>
        </p:txBody>
      </p:sp>
      <p:sp>
        <p:nvSpPr>
          <p:cNvPr id="4" name="Text 2"/>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05</a:t>
            </a:r>
            <a:endParaRPr lang="en-US" sz="800" dirty="0"/>
          </a:p>
        </p:txBody>
      </p:sp>
      <p:sp>
        <p:nvSpPr>
          <p:cNvPr id="5" name="Shape 3"/>
          <p:cNvSpPr/>
          <p:nvPr/>
        </p:nvSpPr>
        <p:spPr>
          <a:xfrm>
            <a:off x="457200" y="1207008"/>
            <a:ext cx="384048" cy="384048"/>
          </a:xfrm>
          <a:prstGeom prst="ellipse">
            <a:avLst/>
          </a:prstGeom>
          <a:solidFill>
            <a:srgbClr val="D9A04A"/>
          </a:solidFill>
          <a:ln w="12700">
            <a:solidFill>
              <a:srgbClr val="D9A04A"/>
            </a:solidFill>
            <a:prstDash val="solid"/>
          </a:ln>
        </p:spPr>
      </p:sp>
      <p:sp>
        <p:nvSpPr>
          <p:cNvPr id="6" name="Text 4"/>
          <p:cNvSpPr txBox="1"/>
          <p:nvPr/>
        </p:nvSpPr>
        <p:spPr>
          <a:xfrm>
            <a:off x="457200" y="1207008"/>
            <a:ext cx="384048" cy="384048"/>
          </a:xfrm>
          <a:prstGeom prst="rect">
            <a:avLst/>
          </a:prstGeom>
          <a:noFill/>
          <a:ln/>
        </p:spPr>
        <p:txBody>
          <a:bodyPr wrap="square" lIns="0" tIns="0" rIns="0" bIns="0" rtlCol="0" anchor="ctr"/>
          <a:lstStyle/>
          <a:p>
            <a:pPr algn="ctr" indent="0" marL="0">
              <a:buNone/>
            </a:pPr>
            <a:r>
              <a:rPr lang="en-US" sz="1300" b="1" dirty="0">
                <a:solidFill>
                  <a:srgbClr val="16131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005840" y="1188720"/>
            <a:ext cx="1097280" cy="274320"/>
          </a:xfrm>
          <a:prstGeom prst="rect">
            <a:avLst/>
          </a:prstGeom>
          <a:noFill/>
          <a:ln/>
        </p:spPr>
        <p:txBody>
          <a:bodyPr wrap="square" lIns="0" tIns="0" rIns="0" bIns="0" rtlCol="0" anchor="t"/>
          <a:lstStyle/>
          <a:p>
            <a:pPr indent="0" marL="0">
              <a:buNone/>
            </a:pPr>
            <a:r>
              <a:rPr lang="en-US" sz="1400" b="1" dirty="0">
                <a:solidFill>
                  <a:srgbClr val="F3EEE4"/>
                </a:solidFill>
                <a:latin typeface="Calibri" pitchFamily="34" charset="0"/>
                <a:ea typeface="Calibri" pitchFamily="34" charset="-122"/>
                <a:cs typeface="Calibri" pitchFamily="34" charset="-120"/>
              </a:rPr>
              <a:t>Notice</a:t>
            </a:r>
            <a:endParaRPr lang="en-US" sz="1400" dirty="0"/>
          </a:p>
        </p:txBody>
      </p:sp>
      <p:sp>
        <p:nvSpPr>
          <p:cNvPr id="8" name="Text 6"/>
          <p:cNvSpPr txBox="1"/>
          <p:nvPr/>
        </p:nvSpPr>
        <p:spPr>
          <a:xfrm>
            <a:off x="2103120" y="1207008"/>
            <a:ext cx="3657600" cy="548640"/>
          </a:xfrm>
          <a:prstGeom prst="rect">
            <a:avLst/>
          </a:prstGeom>
          <a:noFill/>
          <a:ln/>
        </p:spPr>
        <p:txBody>
          <a:bodyPr wrap="square" lIns="0" tIns="0" rIns="0" bIns="0" rtlCol="0" anchor="t"/>
          <a:lstStyle/>
          <a:p>
            <a:pPr indent="0" marL="0">
              <a:buNone/>
            </a:pPr>
            <a:r>
              <a:rPr lang="en-US" sz="1100" dirty="0">
                <a:solidFill>
                  <a:srgbClr val="B3ADC0"/>
                </a:solidFill>
                <a:latin typeface="Calibri" pitchFamily="34" charset="0"/>
                <a:ea typeface="Calibri" pitchFamily="34" charset="-122"/>
                <a:cs typeface="Calibri" pitchFamily="34" charset="-120"/>
              </a:rPr>
              <a:t>A card at the entrance, shop or café, or a post on your channels, introduces the story.</a:t>
            </a:r>
            <a:endParaRPr lang="en-US" sz="1100" dirty="0"/>
          </a:p>
        </p:txBody>
      </p:sp>
      <p:sp>
        <p:nvSpPr>
          <p:cNvPr id="9" name="Shape 7"/>
          <p:cNvSpPr/>
          <p:nvPr/>
        </p:nvSpPr>
        <p:spPr>
          <a:xfrm>
            <a:off x="457200" y="1865376"/>
            <a:ext cx="384048" cy="384048"/>
          </a:xfrm>
          <a:prstGeom prst="ellipse">
            <a:avLst/>
          </a:prstGeom>
          <a:solidFill>
            <a:srgbClr val="D9A04A"/>
          </a:solidFill>
          <a:ln w="12700">
            <a:solidFill>
              <a:srgbClr val="D9A04A"/>
            </a:solidFill>
            <a:prstDash val="solid"/>
          </a:ln>
        </p:spPr>
      </p:sp>
      <p:sp>
        <p:nvSpPr>
          <p:cNvPr id="10" name="Text 8"/>
          <p:cNvSpPr txBox="1"/>
          <p:nvPr/>
        </p:nvSpPr>
        <p:spPr>
          <a:xfrm>
            <a:off x="457200" y="1865376"/>
            <a:ext cx="384048" cy="384048"/>
          </a:xfrm>
          <a:prstGeom prst="rect">
            <a:avLst/>
          </a:prstGeom>
          <a:noFill/>
          <a:ln/>
        </p:spPr>
        <p:txBody>
          <a:bodyPr wrap="square" lIns="0" tIns="0" rIns="0" bIns="0" rtlCol="0" anchor="ctr"/>
          <a:lstStyle/>
          <a:p>
            <a:pPr algn="ctr" indent="0" marL="0">
              <a:buNone/>
            </a:pPr>
            <a:r>
              <a:rPr lang="en-US" sz="1300" b="1" dirty="0">
                <a:solidFill>
                  <a:srgbClr val="16131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005840" y="1847088"/>
            <a:ext cx="1097280" cy="274320"/>
          </a:xfrm>
          <a:prstGeom prst="rect">
            <a:avLst/>
          </a:prstGeom>
          <a:noFill/>
          <a:ln/>
        </p:spPr>
        <p:txBody>
          <a:bodyPr wrap="square" lIns="0" tIns="0" rIns="0" bIns="0" rtlCol="0" anchor="t"/>
          <a:lstStyle/>
          <a:p>
            <a:pPr indent="0" marL="0">
              <a:buNone/>
            </a:pPr>
            <a:r>
              <a:rPr lang="en-US" sz="1400" b="1" dirty="0">
                <a:solidFill>
                  <a:srgbClr val="F3EEE4"/>
                </a:solidFill>
                <a:latin typeface="Calibri" pitchFamily="34" charset="0"/>
                <a:ea typeface="Calibri" pitchFamily="34" charset="-122"/>
                <a:cs typeface="Calibri" pitchFamily="34" charset="-120"/>
              </a:rPr>
              <a:t>Scan</a:t>
            </a:r>
            <a:endParaRPr lang="en-US" sz="1400" dirty="0"/>
          </a:p>
        </p:txBody>
      </p:sp>
      <p:sp>
        <p:nvSpPr>
          <p:cNvPr id="12" name="Text 10"/>
          <p:cNvSpPr txBox="1"/>
          <p:nvPr/>
        </p:nvSpPr>
        <p:spPr>
          <a:xfrm>
            <a:off x="2103120" y="1865376"/>
            <a:ext cx="3657600" cy="548640"/>
          </a:xfrm>
          <a:prstGeom prst="rect">
            <a:avLst/>
          </a:prstGeom>
          <a:noFill/>
          <a:ln/>
        </p:spPr>
        <p:txBody>
          <a:bodyPr wrap="square" lIns="0" tIns="0" rIns="0" bIns="0" rtlCol="0" anchor="t"/>
          <a:lstStyle/>
          <a:p>
            <a:pPr indent="0" marL="0">
              <a:buNone/>
            </a:pPr>
            <a:r>
              <a:rPr lang="en-US" sz="1100" dirty="0">
                <a:solidFill>
                  <a:srgbClr val="B3ADC0"/>
                </a:solidFill>
                <a:latin typeface="Calibri" pitchFamily="34" charset="0"/>
                <a:ea typeface="Calibri" pitchFamily="34" charset="-122"/>
                <a:cs typeface="Calibri" pitchFamily="34" charset="-120"/>
              </a:rPr>
              <a:t>The story opens in the phone’s browser. Nothing to download and no account to create.</a:t>
            </a:r>
            <a:endParaRPr lang="en-US" sz="1100" dirty="0"/>
          </a:p>
        </p:txBody>
      </p:sp>
      <p:sp>
        <p:nvSpPr>
          <p:cNvPr id="13" name="Shape 11"/>
          <p:cNvSpPr/>
          <p:nvPr/>
        </p:nvSpPr>
        <p:spPr>
          <a:xfrm>
            <a:off x="457200" y="2523744"/>
            <a:ext cx="384048" cy="384048"/>
          </a:xfrm>
          <a:prstGeom prst="ellipse">
            <a:avLst/>
          </a:prstGeom>
          <a:solidFill>
            <a:srgbClr val="D9A04A"/>
          </a:solidFill>
          <a:ln w="12700">
            <a:solidFill>
              <a:srgbClr val="D9A04A"/>
            </a:solidFill>
            <a:prstDash val="solid"/>
          </a:ln>
        </p:spPr>
      </p:sp>
      <p:sp>
        <p:nvSpPr>
          <p:cNvPr id="14" name="Text 12"/>
          <p:cNvSpPr txBox="1"/>
          <p:nvPr/>
        </p:nvSpPr>
        <p:spPr>
          <a:xfrm>
            <a:off x="457200" y="2523744"/>
            <a:ext cx="384048" cy="384048"/>
          </a:xfrm>
          <a:prstGeom prst="rect">
            <a:avLst/>
          </a:prstGeom>
          <a:noFill/>
          <a:ln/>
        </p:spPr>
        <p:txBody>
          <a:bodyPr wrap="square" lIns="0" tIns="0" rIns="0" bIns="0" rtlCol="0" anchor="ctr"/>
          <a:lstStyle/>
          <a:p>
            <a:pPr algn="ctr" indent="0" marL="0">
              <a:buNone/>
            </a:pPr>
            <a:r>
              <a:rPr lang="en-US" sz="1300" b="1" dirty="0">
                <a:solidFill>
                  <a:srgbClr val="16131F"/>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005840" y="2505456"/>
            <a:ext cx="1097280" cy="274320"/>
          </a:xfrm>
          <a:prstGeom prst="rect">
            <a:avLst/>
          </a:prstGeom>
          <a:noFill/>
          <a:ln/>
        </p:spPr>
        <p:txBody>
          <a:bodyPr wrap="square" lIns="0" tIns="0" rIns="0" bIns="0" rtlCol="0" anchor="t"/>
          <a:lstStyle/>
          <a:p>
            <a:pPr indent="0" marL="0">
              <a:buNone/>
            </a:pPr>
            <a:r>
              <a:rPr lang="en-US" sz="1400" b="1" dirty="0">
                <a:solidFill>
                  <a:srgbClr val="F3EEE4"/>
                </a:solidFill>
                <a:latin typeface="Calibri" pitchFamily="34" charset="0"/>
                <a:ea typeface="Calibri" pitchFamily="34" charset="-122"/>
                <a:cs typeface="Calibri" pitchFamily="34" charset="-120"/>
              </a:rPr>
              <a:t>Explore</a:t>
            </a:r>
            <a:endParaRPr lang="en-US" sz="1400" dirty="0"/>
          </a:p>
        </p:txBody>
      </p:sp>
      <p:sp>
        <p:nvSpPr>
          <p:cNvPr id="16" name="Text 14"/>
          <p:cNvSpPr txBox="1"/>
          <p:nvPr/>
        </p:nvSpPr>
        <p:spPr>
          <a:xfrm>
            <a:off x="2103120" y="2523744"/>
            <a:ext cx="3657600" cy="548640"/>
          </a:xfrm>
          <a:prstGeom prst="rect">
            <a:avLst/>
          </a:prstGeom>
          <a:noFill/>
          <a:ln/>
        </p:spPr>
        <p:txBody>
          <a:bodyPr wrap="square" lIns="0" tIns="0" rIns="0" bIns="0" rtlCol="0" anchor="t"/>
          <a:lstStyle/>
          <a:p>
            <a:pPr indent="0" marL="0">
              <a:buNone/>
            </a:pPr>
            <a:r>
              <a:rPr lang="en-US" sz="1100" dirty="0">
                <a:solidFill>
                  <a:srgbClr val="B3ADC0"/>
                </a:solidFill>
                <a:latin typeface="Calibri" pitchFamily="34" charset="0"/>
                <a:ea typeface="Calibri" pitchFamily="34" charset="-122"/>
                <a:cs typeface="Calibri" pitchFamily="34" charset="-120"/>
              </a:rPr>
              <a:t>Three short stops, each with a real farm fact, a one-minute story moment and a clue to find.</a:t>
            </a:r>
            <a:endParaRPr lang="en-US" sz="1100" dirty="0"/>
          </a:p>
        </p:txBody>
      </p:sp>
      <p:sp>
        <p:nvSpPr>
          <p:cNvPr id="17" name="Shape 15"/>
          <p:cNvSpPr/>
          <p:nvPr/>
        </p:nvSpPr>
        <p:spPr>
          <a:xfrm>
            <a:off x="457200" y="3182112"/>
            <a:ext cx="384048" cy="384048"/>
          </a:xfrm>
          <a:prstGeom prst="ellipse">
            <a:avLst/>
          </a:prstGeom>
          <a:solidFill>
            <a:srgbClr val="D9A04A"/>
          </a:solidFill>
          <a:ln w="12700">
            <a:solidFill>
              <a:srgbClr val="D9A04A"/>
            </a:solidFill>
            <a:prstDash val="solid"/>
          </a:ln>
        </p:spPr>
      </p:sp>
      <p:sp>
        <p:nvSpPr>
          <p:cNvPr id="18" name="Text 16"/>
          <p:cNvSpPr txBox="1"/>
          <p:nvPr/>
        </p:nvSpPr>
        <p:spPr>
          <a:xfrm>
            <a:off x="457200" y="3182112"/>
            <a:ext cx="384048" cy="384048"/>
          </a:xfrm>
          <a:prstGeom prst="rect">
            <a:avLst/>
          </a:prstGeom>
          <a:noFill/>
          <a:ln/>
        </p:spPr>
        <p:txBody>
          <a:bodyPr wrap="square" lIns="0" tIns="0" rIns="0" bIns="0" rtlCol="0" anchor="ctr"/>
          <a:lstStyle/>
          <a:p>
            <a:pPr algn="ctr" indent="0" marL="0">
              <a:buNone/>
            </a:pPr>
            <a:r>
              <a:rPr lang="en-US" sz="1300" b="1" dirty="0">
                <a:solidFill>
                  <a:srgbClr val="16131F"/>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005840" y="3163824"/>
            <a:ext cx="1097280" cy="274320"/>
          </a:xfrm>
          <a:prstGeom prst="rect">
            <a:avLst/>
          </a:prstGeom>
          <a:noFill/>
          <a:ln/>
        </p:spPr>
        <p:txBody>
          <a:bodyPr wrap="square" lIns="0" tIns="0" rIns="0" bIns="0" rtlCol="0" anchor="t"/>
          <a:lstStyle/>
          <a:p>
            <a:pPr indent="0" marL="0">
              <a:buNone/>
            </a:pPr>
            <a:r>
              <a:rPr lang="en-US" sz="1400" b="1" dirty="0">
                <a:solidFill>
                  <a:srgbClr val="F3EEE4"/>
                </a:solidFill>
                <a:latin typeface="Calibri" pitchFamily="34" charset="0"/>
                <a:ea typeface="Calibri" pitchFamily="34" charset="-122"/>
                <a:cs typeface="Calibri" pitchFamily="34" charset="-120"/>
              </a:rPr>
              <a:t>Act</a:t>
            </a:r>
            <a:endParaRPr lang="en-US" sz="1400" dirty="0"/>
          </a:p>
        </p:txBody>
      </p:sp>
      <p:sp>
        <p:nvSpPr>
          <p:cNvPr id="20" name="Text 18"/>
          <p:cNvSpPr txBox="1"/>
          <p:nvPr/>
        </p:nvSpPr>
        <p:spPr>
          <a:xfrm>
            <a:off x="2103120" y="3182112"/>
            <a:ext cx="3657600" cy="548640"/>
          </a:xfrm>
          <a:prstGeom prst="rect">
            <a:avLst/>
          </a:prstGeom>
          <a:noFill/>
          <a:ln/>
        </p:spPr>
        <p:txBody>
          <a:bodyPr wrap="square" lIns="0" tIns="0" rIns="0" bIns="0" rtlCol="0" anchor="t"/>
          <a:lstStyle/>
          <a:p>
            <a:pPr indent="0" marL="0">
              <a:buNone/>
            </a:pPr>
            <a:r>
              <a:rPr lang="en-US" sz="1100" dirty="0">
                <a:solidFill>
                  <a:srgbClr val="B3ADC0"/>
                </a:solidFill>
                <a:latin typeface="Calibri" pitchFamily="34" charset="0"/>
                <a:ea typeface="Calibri" pitchFamily="34" charset="-122"/>
                <a:cs typeface="Calibri" pitchFamily="34" charset="-120"/>
              </a:rPr>
              <a:t>The final stop offers one next step you choose: taste, browse, dine or buy the book.</a:t>
            </a:r>
            <a:endParaRPr lang="en-US" sz="1100" dirty="0"/>
          </a:p>
        </p:txBody>
      </p:sp>
      <p:sp>
        <p:nvSpPr>
          <p:cNvPr id="21" name="Shape 19"/>
          <p:cNvSpPr/>
          <p:nvPr/>
        </p:nvSpPr>
        <p:spPr>
          <a:xfrm>
            <a:off x="457200" y="3840480"/>
            <a:ext cx="384048" cy="384048"/>
          </a:xfrm>
          <a:prstGeom prst="ellipse">
            <a:avLst/>
          </a:prstGeom>
          <a:solidFill>
            <a:srgbClr val="D9A04A"/>
          </a:solidFill>
          <a:ln w="12700">
            <a:solidFill>
              <a:srgbClr val="D9A04A"/>
            </a:solidFill>
            <a:prstDash val="solid"/>
          </a:ln>
        </p:spPr>
      </p:sp>
      <p:sp>
        <p:nvSpPr>
          <p:cNvPr id="22" name="Text 20"/>
          <p:cNvSpPr txBox="1"/>
          <p:nvPr/>
        </p:nvSpPr>
        <p:spPr>
          <a:xfrm>
            <a:off x="457200" y="3840480"/>
            <a:ext cx="384048" cy="384048"/>
          </a:xfrm>
          <a:prstGeom prst="rect">
            <a:avLst/>
          </a:prstGeom>
          <a:noFill/>
          <a:ln/>
        </p:spPr>
        <p:txBody>
          <a:bodyPr wrap="square" lIns="0" tIns="0" rIns="0" bIns="0" rtlCol="0" anchor="ctr"/>
          <a:lstStyle/>
          <a:p>
            <a:pPr algn="ctr" indent="0" marL="0">
              <a:buNone/>
            </a:pPr>
            <a:r>
              <a:rPr lang="en-US" sz="1300" b="1" dirty="0">
                <a:solidFill>
                  <a:srgbClr val="16131F"/>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005840" y="3822192"/>
            <a:ext cx="1097280" cy="274320"/>
          </a:xfrm>
          <a:prstGeom prst="rect">
            <a:avLst/>
          </a:prstGeom>
          <a:noFill/>
          <a:ln/>
        </p:spPr>
        <p:txBody>
          <a:bodyPr wrap="square" lIns="0" tIns="0" rIns="0" bIns="0" rtlCol="0" anchor="t"/>
          <a:lstStyle/>
          <a:p>
            <a:pPr indent="0" marL="0">
              <a:buNone/>
            </a:pPr>
            <a:r>
              <a:rPr lang="en-US" sz="1400" b="1" dirty="0">
                <a:solidFill>
                  <a:srgbClr val="F3EEE4"/>
                </a:solidFill>
                <a:latin typeface="Calibri" pitchFamily="34" charset="0"/>
                <a:ea typeface="Calibri" pitchFamily="34" charset="-122"/>
                <a:cs typeface="Calibri" pitchFamily="34" charset="-120"/>
              </a:rPr>
              <a:t>Return</a:t>
            </a:r>
            <a:endParaRPr lang="en-US" sz="1400" dirty="0"/>
          </a:p>
        </p:txBody>
      </p:sp>
      <p:sp>
        <p:nvSpPr>
          <p:cNvPr id="24" name="Text 22"/>
          <p:cNvSpPr txBox="1"/>
          <p:nvPr/>
        </p:nvSpPr>
        <p:spPr>
          <a:xfrm>
            <a:off x="2103120" y="3840480"/>
            <a:ext cx="3657600" cy="548640"/>
          </a:xfrm>
          <a:prstGeom prst="rect">
            <a:avLst/>
          </a:prstGeom>
          <a:noFill/>
          <a:ln/>
        </p:spPr>
        <p:txBody>
          <a:bodyPr wrap="square" lIns="0" tIns="0" rIns="0" bIns="0" rtlCol="0" anchor="t"/>
          <a:lstStyle/>
          <a:p>
            <a:pPr indent="0" marL="0">
              <a:buNone/>
            </a:pPr>
            <a:r>
              <a:rPr lang="en-US" sz="1100" dirty="0">
                <a:solidFill>
                  <a:srgbClr val="B3ADC0"/>
                </a:solidFill>
                <a:latin typeface="Calibri" pitchFamily="34" charset="0"/>
                <a:ea typeface="Calibri" pitchFamily="34" charset="-122"/>
                <a:cs typeface="Calibri" pitchFamily="34" charset="-120"/>
              </a:rPr>
              <a:t>An optional newsletter sign-up through the farm’s existing consent process, the next event or the next story.</a:t>
            </a:r>
            <a:endParaRPr lang="en-US" sz="1100" dirty="0"/>
          </a:p>
        </p:txBody>
      </p:sp>
      <p:sp>
        <p:nvSpPr>
          <p:cNvPr id="25" name="Text 23"/>
          <p:cNvSpPr txBox="1"/>
          <p:nvPr/>
        </p:nvSpPr>
        <p:spPr>
          <a:xfrm>
            <a:off x="457200" y="4526280"/>
            <a:ext cx="5486400" cy="274320"/>
          </a:xfrm>
          <a:prstGeom prst="rect">
            <a:avLst/>
          </a:prstGeom>
          <a:noFill/>
          <a:ln/>
        </p:spPr>
        <p:txBody>
          <a:bodyPr wrap="square" lIns="0" tIns="0" rIns="0" bIns="0" rtlCol="0" anchor="t"/>
          <a:lstStyle/>
          <a:p>
            <a:pPr indent="0" marL="0">
              <a:buNone/>
            </a:pPr>
            <a:r>
              <a:rPr lang="en-US" sz="1100" i="1" dirty="0">
                <a:solidFill>
                  <a:srgbClr val="D9A04A"/>
                </a:solidFill>
                <a:latin typeface="Calibri" pitchFamily="34" charset="0"/>
                <a:ea typeface="Calibri" pitchFamily="34" charset="-122"/>
                <a:cs typeface="Calibri" pitchFamily="34" charset="-120"/>
              </a:rPr>
              <a:t>10–15 minutes, entirely optional, and it fits around normal visitor movement.</a:t>
            </a:r>
            <a:endParaRPr lang="en-US" sz="1100" dirty="0"/>
          </a:p>
        </p:txBody>
      </p:sp>
      <p:pic>
        <p:nvPicPr>
          <p:cNvPr id="26" name="Image 0" descr="/tmp/claude-0/-home-claude/44c6354d-2ed6-549b-8a9d-d752d4a7ab5e/scratchpad/build/img/phone_mock.png">    </p:cNvPr>
          <p:cNvPicPr>
            <a:picLocks noChangeAspect="1"/>
          </p:cNvPicPr>
          <p:nvPr/>
        </p:nvPicPr>
        <p:blipFill>
          <a:blip r:embed="rId1"/>
          <a:stretch>
            <a:fillRect/>
          </a:stretch>
        </p:blipFill>
        <p:spPr>
          <a:xfrm>
            <a:off x="6446520" y="411480"/>
            <a:ext cx="2231136" cy="3931920"/>
          </a:xfrm>
          <a:prstGeom prst="rect">
            <a:avLst/>
          </a:prstGeom>
        </p:spPr>
      </p:pic>
      <p:sp>
        <p:nvSpPr>
          <p:cNvPr id="27" name="Text 24"/>
          <p:cNvSpPr txBox="1"/>
          <p:nvPr/>
        </p:nvSpPr>
        <p:spPr>
          <a:xfrm>
            <a:off x="6446520" y="4434840"/>
            <a:ext cx="2231136" cy="228600"/>
          </a:xfrm>
          <a:prstGeom prst="rect">
            <a:avLst/>
          </a:prstGeom>
          <a:noFill/>
          <a:ln/>
        </p:spPr>
        <p:txBody>
          <a:bodyPr wrap="square" lIns="0" tIns="0" rIns="0" bIns="0" rtlCol="0" anchor="t"/>
          <a:lstStyle/>
          <a:p>
            <a:pPr algn="ctr" indent="0" marL="0">
              <a:buNone/>
            </a:pPr>
            <a:r>
              <a:rPr lang="en-US" sz="900" dirty="0">
                <a:solidFill>
                  <a:srgbClr val="B3ADC0"/>
                </a:solidFill>
                <a:latin typeface="Calibri" pitchFamily="34" charset="0"/>
                <a:ea typeface="Calibri" pitchFamily="34" charset="-122"/>
                <a:cs typeface="Calibri" pitchFamily="34" charset="-120"/>
              </a:rPr>
              <a:t>Illustrative stop page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Three stops on the farm</a:t>
            </a:r>
            <a:endParaRPr lang="en-US" sz="2800" dirty="0"/>
          </a:p>
        </p:txBody>
      </p:sp>
      <p:sp>
        <p:nvSpPr>
          <p:cNvPr id="4" name="Text 2"/>
          <p:cNvSpPr txBox="1"/>
          <p:nvPr/>
        </p:nvSpPr>
        <p:spPr>
          <a:xfrm>
            <a:off x="457200" y="1024128"/>
            <a:ext cx="7863840" cy="411480"/>
          </a:xfrm>
          <a:prstGeom prst="rect">
            <a:avLst/>
          </a:prstGeom>
          <a:noFill/>
          <a:ln/>
        </p:spPr>
        <p:txBody>
          <a:bodyPr wrap="square" lIns="0" tIns="0" rIns="0" bIns="0" rtlCol="0" anchor="t"/>
          <a:lstStyle/>
          <a:p>
            <a:pPr indent="0" marL="0">
              <a:buNone/>
            </a:pPr>
            <a:r>
              <a:rPr lang="en-US" sz="1300" dirty="0">
                <a:solidFill>
                  <a:srgbClr val="B3ADC0"/>
                </a:solidFill>
                <a:latin typeface="Calibri" pitchFamily="34" charset="0"/>
                <a:ea typeface="Calibri" pitchFamily="34" charset="-122"/>
                <a:cs typeface="Calibri" pitchFamily="34" charset="-120"/>
              </a:rPr>
              <a:t>A first outline. The site walk decides the exact spots so the route works with normal visitor flow.</a:t>
            </a:r>
            <a:endParaRPr lang="en-US" sz="1300" dirty="0"/>
          </a:p>
        </p:txBody>
      </p:sp>
      <p:sp>
        <p:nvSpPr>
          <p:cNvPr id="5" name="Text 3"/>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06</a:t>
            </a:r>
            <a:endParaRPr lang="en-US" sz="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00200"/>
          <a:ext cx="8229600" cy="914400"/>
        </p:xfrm>
        <a:graphic>
          <a:graphicData uri="http://schemas.openxmlformats.org/drawingml/2006/table">
            <a:tbl>
              <a:tblPr/>
              <a:tblGrid>
                <a:gridCol w="1371600"/>
                <a:gridCol w="2286000"/>
                <a:gridCol w="2286000"/>
                <a:gridCol w="2286000"/>
              </a:tblGrid>
              <a:tr h="502920">
                <a:tc>
                  <a:txBody>
                    <a:bodyPr/>
                    <a:lstStyle/>
                    <a:p>
                      <a:pPr indent="0" marL="0">
                        <a:buNone/>
                      </a:pPr>
                      <a:endParaRPr lang="en-US" sz="12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16131F"/>
                    </a:solidFill>
                  </a:tcPr>
                </a:tc>
                <a:tc>
                  <a:txBody>
                    <a:bodyPr/>
                    <a:lstStyle/>
                    <a:p>
                      <a:pPr indent="0" marL="0">
                        <a:buNone/>
                      </a:pPr>
                      <a:r>
                        <a:rPr lang="en-US" sz="1300" b="1" dirty="0">
                          <a:solidFill>
                            <a:srgbClr val="D9A04A"/>
                          </a:solidFill>
                          <a:latin typeface="Cambria" pitchFamily="34" charset="0"/>
                          <a:ea typeface="Cambria" pitchFamily="34" charset="-122"/>
                          <a:cs typeface="Cambria" pitchFamily="34" charset="-120"/>
                        </a:rPr>
                        <a:t>01  The land</a:t>
                      </a:r>
                      <a:endParaRPr lang="en-US" sz="1300" dirty="0">
                        <a:latin typeface="Cambria" charset="0"/>
                        <a:ea typeface="Cambria" charset="0"/>
                        <a:cs typeface="Cambria"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300" b="1" dirty="0">
                          <a:solidFill>
                            <a:srgbClr val="D9A04A"/>
                          </a:solidFill>
                          <a:latin typeface="Cambria" pitchFamily="34" charset="0"/>
                          <a:ea typeface="Cambria" pitchFamily="34" charset="-122"/>
                          <a:cs typeface="Cambria" pitchFamily="34" charset="-120"/>
                        </a:rPr>
                        <a:t>02  From bulb to product</a:t>
                      </a:r>
                      <a:endParaRPr lang="en-US" sz="1300" dirty="0">
                        <a:latin typeface="Cambria" charset="0"/>
                        <a:ea typeface="Cambria" charset="0"/>
                        <a:cs typeface="Cambria"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300" b="1" dirty="0">
                          <a:solidFill>
                            <a:srgbClr val="D9A04A"/>
                          </a:solidFill>
                          <a:latin typeface="Cambria" pitchFamily="34" charset="0"/>
                          <a:ea typeface="Cambria" pitchFamily="34" charset="-122"/>
                          <a:cs typeface="Cambria" pitchFamily="34" charset="-120"/>
                        </a:rPr>
                        <a:t>03  Taste and discovery</a:t>
                      </a:r>
                      <a:endParaRPr lang="en-US" sz="1300" dirty="0">
                        <a:latin typeface="Cambria" charset="0"/>
                        <a:ea typeface="Cambria" charset="0"/>
                        <a:cs typeface="Cambria"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r>
              <a:tr h="685800">
                <a:tc>
                  <a:txBody>
                    <a:bodyPr/>
                    <a:lstStyle/>
                    <a:p>
                      <a:pPr indent="0" marL="0">
                        <a:buNone/>
                      </a:pPr>
                      <a:r>
                        <a:rPr lang="en-US" sz="1100" b="1" dirty="0">
                          <a:solidFill>
                            <a:srgbClr val="F3EEE4"/>
                          </a:solidFill>
                          <a:latin typeface="Calibri" pitchFamily="34" charset="0"/>
                          <a:ea typeface="Calibri" pitchFamily="34" charset="-122"/>
                          <a:cs typeface="Calibri" pitchFamily="34" charset="-120"/>
                        </a:rPr>
                        <a:t>The real farm</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100" dirty="0">
                          <a:solidFill>
                            <a:srgbClr val="F3EEE4"/>
                          </a:solidFill>
                          <a:latin typeface="Calibri" pitchFamily="34" charset="0"/>
                          <a:ea typeface="Calibri" pitchFamily="34" charset="-122"/>
                          <a:cs typeface="Calibri" pitchFamily="34" charset="-120"/>
                        </a:rPr>
                        <a:t>Growing, varieties and the seasons</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100" dirty="0">
                          <a:solidFill>
                            <a:srgbClr val="F3EEE4"/>
                          </a:solidFill>
                          <a:latin typeface="Calibri" pitchFamily="34" charset="0"/>
                          <a:ea typeface="Calibri" pitchFamily="34" charset="-122"/>
                          <a:cs typeface="Calibri" pitchFamily="34" charset="-120"/>
                        </a:rPr>
                        <a:t>Harvesting, drying or preparation</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100" dirty="0">
                          <a:solidFill>
                            <a:srgbClr val="F3EEE4"/>
                          </a:solidFill>
                          <a:latin typeface="Calibri" pitchFamily="34" charset="0"/>
                          <a:ea typeface="Calibri" pitchFamily="34" charset="-122"/>
                          <a:cs typeface="Calibri" pitchFamily="34" charset="-120"/>
                        </a:rPr>
                        <a:t>A product, tasting or menu item you choose</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685800">
                <a:tc>
                  <a:txBody>
                    <a:bodyPr/>
                    <a:lstStyle/>
                    <a:p>
                      <a:pPr indent="0" marL="0">
                        <a:buNone/>
                      </a:pPr>
                      <a:r>
                        <a:rPr lang="en-US" sz="1100" b="1" dirty="0">
                          <a:solidFill>
                            <a:srgbClr val="F3EEE4"/>
                          </a:solidFill>
                          <a:latin typeface="Calibri" pitchFamily="34" charset="0"/>
                          <a:ea typeface="Calibri" pitchFamily="34" charset="-122"/>
                          <a:cs typeface="Calibri" pitchFamily="34" charset="-120"/>
                        </a:rPr>
                        <a:t>The story</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100" dirty="0">
                          <a:solidFill>
                            <a:srgbClr val="F3EEE4"/>
                          </a:solidFill>
                          <a:latin typeface="Calibri" pitchFamily="34" charset="0"/>
                          <a:ea typeface="Calibri" pitchFamily="34" charset="-122"/>
                          <a:cs typeface="Calibri" pitchFamily="34" charset="-120"/>
                        </a:rPr>
                        <a:t>Matty’s story begins</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100" dirty="0">
                          <a:solidFill>
                            <a:srgbClr val="F3EEE4"/>
                          </a:solidFill>
                          <a:latin typeface="Calibri" pitchFamily="34" charset="0"/>
                          <a:ea typeface="Calibri" pitchFamily="34" charset="-122"/>
                          <a:cs typeface="Calibri" pitchFamily="34" charset="-120"/>
                        </a:rPr>
                        <a:t>A clue that fiction has entered the farm</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100" dirty="0">
                          <a:solidFill>
                            <a:srgbClr val="F3EEE4"/>
                          </a:solidFill>
                          <a:latin typeface="Calibri" pitchFamily="34" charset="0"/>
                          <a:ea typeface="Calibri" pitchFamily="34" charset="-122"/>
                          <a:cs typeface="Calibri" pitchFamily="34" charset="-120"/>
                        </a:rPr>
                        <a:t>The mystery resolves, or leaves a question</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685800">
                <a:tc>
                  <a:txBody>
                    <a:bodyPr/>
                    <a:lstStyle/>
                    <a:p>
                      <a:pPr indent="0" marL="0">
                        <a:buNone/>
                      </a:pPr>
                      <a:r>
                        <a:rPr lang="en-US" sz="1100" b="1" dirty="0">
                          <a:solidFill>
                            <a:srgbClr val="F3EEE4"/>
                          </a:solidFill>
                          <a:latin typeface="Calibri" pitchFamily="34" charset="0"/>
                          <a:ea typeface="Calibri" pitchFamily="34" charset="-122"/>
                          <a:cs typeface="Calibri" pitchFamily="34" charset="-120"/>
                        </a:rPr>
                        <a:t>The visitor</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100" dirty="0">
                          <a:solidFill>
                            <a:srgbClr val="F3EEE4"/>
                          </a:solidFill>
                          <a:latin typeface="Calibri" pitchFamily="34" charset="0"/>
                          <a:ea typeface="Calibri" pitchFamily="34" charset="-122"/>
                          <a:cs typeface="Calibri" pitchFamily="34" charset="-120"/>
                        </a:rPr>
                        <a:t>Looks around and finds the first clue</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100" dirty="0">
                          <a:solidFill>
                            <a:srgbClr val="F3EEE4"/>
                          </a:solidFill>
                          <a:latin typeface="Calibri" pitchFamily="34" charset="0"/>
                          <a:ea typeface="Calibri" pitchFamily="34" charset="-122"/>
                          <a:cs typeface="Calibri" pitchFamily="34" charset="-120"/>
                        </a:rPr>
                        <a:t>Listens, looks closely, finds the next clue</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100" dirty="0">
                          <a:solidFill>
                            <a:srgbClr val="F3EEE4"/>
                          </a:solidFill>
                          <a:latin typeface="Calibri" pitchFamily="34" charset="0"/>
                          <a:ea typeface="Calibri" pitchFamily="34" charset="-122"/>
                          <a:cs typeface="Calibri" pitchFamily="34" charset="-120"/>
                        </a:rPr>
                        <a:t>Chooses how the visit ends</a:t>
                      </a:r>
                      <a:endParaRPr lang="en-US" sz="1100" dirty="0">
                        <a:latin typeface="Calibri" charset="0"/>
                        <a:ea typeface="Calibri" charset="0"/>
                        <a:cs typeface="Calibri" charset="0"/>
                      </a:endParaRPr>
                    </a:p>
                  </a:txBody>
                  <a:tcPr marL="101600" marR="101600" marT="50800" marB="508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bl>
          </a:graphicData>
        </a:graphic>
      </p:graphicFrame>
      <p:sp>
        <p:nvSpPr>
          <p:cNvPr id="7" name="Shape 4"/>
          <p:cNvSpPr/>
          <p:nvPr/>
        </p:nvSpPr>
        <p:spPr>
          <a:xfrm>
            <a:off x="457200" y="4343400"/>
            <a:ext cx="8229600" cy="457200"/>
          </a:xfrm>
          <a:prstGeom prst="roundRect">
            <a:avLst>
              <a:gd name="adj" fmla="val 16000"/>
            </a:avLst>
          </a:prstGeom>
          <a:solidFill>
            <a:srgbClr val="2B2540"/>
          </a:solidFill>
          <a:ln w="12700">
            <a:solidFill>
              <a:srgbClr val="2B2540"/>
            </a:solidFill>
            <a:prstDash val="solid"/>
          </a:ln>
        </p:spPr>
      </p:sp>
      <p:sp>
        <p:nvSpPr>
          <p:cNvPr id="8" name="Text 5"/>
          <p:cNvSpPr txBox="1"/>
          <p:nvPr/>
        </p:nvSpPr>
        <p:spPr>
          <a:xfrm>
            <a:off x="640080" y="4343400"/>
            <a:ext cx="7863840" cy="457200"/>
          </a:xfrm>
          <a:prstGeom prst="rect">
            <a:avLst/>
          </a:prstGeom>
          <a:noFill/>
          <a:ln/>
        </p:spPr>
        <p:txBody>
          <a:bodyPr wrap="square" lIns="0" tIns="0" rIns="0" bIns="0" rtlCol="0" anchor="ctr"/>
          <a:lstStyle/>
          <a:p>
            <a:pPr indent="0" marL="0">
              <a:buNone/>
            </a:pPr>
            <a:r>
              <a:rPr lang="en-US" sz="1200" b="1" dirty="0">
                <a:solidFill>
                  <a:srgbClr val="D9A04A"/>
                </a:solidFill>
                <a:latin typeface="Calibri" pitchFamily="34" charset="0"/>
                <a:ea typeface="Calibri" pitchFamily="34" charset="-122"/>
                <a:cs typeface="Calibri" pitchFamily="34" charset="-120"/>
              </a:rPr>
              <a:t>You choose the locations, facts, products and final call to action.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A challenge the whole family can share</a:t>
            </a:r>
            <a:endParaRPr lang="en-US" sz="2800" dirty="0"/>
          </a:p>
        </p:txBody>
      </p:sp>
      <p:sp>
        <p:nvSpPr>
          <p:cNvPr id="4" name="Text 2"/>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07</a:t>
            </a:r>
            <a:endParaRPr lang="en-US" sz="800" dirty="0"/>
          </a:p>
        </p:txBody>
      </p:sp>
      <p:pic>
        <p:nvPicPr>
          <p:cNvPr id="5" name="Image 0" descr="/tmp/claude-0/-home-claude/44c6354d-2ed6-549b-8a9d-d752d4a7ab5e/scratchpad/build/img/c_props.jpg">    </p:cNvPr>
          <p:cNvPicPr>
            <a:picLocks noChangeAspect="1"/>
          </p:cNvPicPr>
          <p:nvPr/>
        </p:nvPicPr>
        <p:blipFill>
          <a:blip r:embed="rId1"/>
          <a:stretch>
            <a:fillRect/>
          </a:stretch>
        </p:blipFill>
        <p:spPr>
          <a:xfrm>
            <a:off x="457200" y="1188720"/>
            <a:ext cx="3840480" cy="3063240"/>
          </a:xfrm>
          <a:prstGeom prst="rect">
            <a:avLst/>
          </a:prstGeom>
        </p:spPr>
      </p:pic>
      <p:sp>
        <p:nvSpPr>
          <p:cNvPr id="6" name="Text 3"/>
          <p:cNvSpPr txBox="1"/>
          <p:nvPr/>
        </p:nvSpPr>
        <p:spPr>
          <a:xfrm>
            <a:off x="457200" y="4343400"/>
            <a:ext cx="3840480" cy="228600"/>
          </a:xfrm>
          <a:prstGeom prst="rect">
            <a:avLst/>
          </a:prstGeom>
          <a:noFill/>
          <a:ln/>
        </p:spPr>
        <p:txBody>
          <a:bodyPr wrap="square" lIns="0" tIns="0" rIns="0" bIns="0" rtlCol="0" anchor="t"/>
          <a:lstStyle/>
          <a:p>
            <a:pPr indent="0" marL="0">
              <a:buNone/>
            </a:pPr>
            <a:r>
              <a:rPr lang="en-US" sz="900" dirty="0">
                <a:solidFill>
                  <a:srgbClr val="B3ADC0"/>
                </a:solidFill>
                <a:latin typeface="Calibri" pitchFamily="34" charset="0"/>
                <a:ea typeface="Calibri" pitchFamily="34" charset="-122"/>
                <a:cs typeface="Calibri" pitchFamily="34" charset="-120"/>
              </a:rPr>
              <a:t>Story props from the concept: the clues Matty follows.</a:t>
            </a:r>
            <a:endParaRPr lang="en-US" sz="900" dirty="0"/>
          </a:p>
        </p:txBody>
      </p:sp>
      <p:sp>
        <p:nvSpPr>
          <p:cNvPr id="7" name="Shape 4"/>
          <p:cNvSpPr/>
          <p:nvPr/>
        </p:nvSpPr>
        <p:spPr>
          <a:xfrm>
            <a:off x="4663440" y="1188720"/>
            <a:ext cx="4023360" cy="804672"/>
          </a:xfrm>
          <a:prstGeom prst="roundRect">
            <a:avLst>
              <a:gd name="adj" fmla="val 9091"/>
            </a:avLst>
          </a:prstGeom>
          <a:solidFill>
            <a:srgbClr val="221D2F"/>
          </a:solidFill>
          <a:ln w="12700">
            <a:solidFill>
              <a:srgbClr val="221D2F"/>
            </a:solidFill>
            <a:prstDash val="solid"/>
          </a:ln>
        </p:spPr>
      </p:sp>
      <p:sp>
        <p:nvSpPr>
          <p:cNvPr id="8" name="Text 5"/>
          <p:cNvSpPr txBox="1"/>
          <p:nvPr/>
        </p:nvSpPr>
        <p:spPr>
          <a:xfrm>
            <a:off x="4846320" y="1280160"/>
            <a:ext cx="3657600" cy="274320"/>
          </a:xfrm>
          <a:prstGeom prst="rect">
            <a:avLst/>
          </a:prstGeom>
          <a:noFill/>
          <a:ln/>
        </p:spPr>
        <p:txBody>
          <a:bodyPr wrap="square" lIns="0" tIns="0" rIns="0" bIns="0" rtlCol="0" anchor="t"/>
          <a:lstStyle/>
          <a:p>
            <a:pPr indent="0" marL="0">
              <a:buNone/>
            </a:pPr>
            <a:r>
              <a:rPr lang="en-US" sz="1300" b="1" dirty="0">
                <a:solidFill>
                  <a:srgbClr val="D9A04A"/>
                </a:solidFill>
                <a:latin typeface="Calibri" pitchFamily="34" charset="0"/>
                <a:ea typeface="Calibri" pitchFamily="34" charset="-122"/>
                <a:cs typeface="Calibri" pitchFamily="34" charset="-120"/>
              </a:rPr>
              <a:t>Find the evidence</a:t>
            </a:r>
            <a:endParaRPr lang="en-US" sz="1300" dirty="0"/>
          </a:p>
        </p:txBody>
      </p:sp>
      <p:sp>
        <p:nvSpPr>
          <p:cNvPr id="9" name="Text 6"/>
          <p:cNvSpPr txBox="1"/>
          <p:nvPr/>
        </p:nvSpPr>
        <p:spPr>
          <a:xfrm>
            <a:off x="4846320" y="1572768"/>
            <a:ext cx="3657600" cy="320040"/>
          </a:xfrm>
          <a:prstGeom prst="rect">
            <a:avLst/>
          </a:prstGeom>
          <a:noFill/>
          <a:ln/>
        </p:spPr>
        <p:txBody>
          <a:bodyPr wrap="square" lIns="0" tIns="0" rIns="0" bIns="0" rtlCol="0" anchor="t"/>
          <a:lstStyle/>
          <a:p>
            <a:pPr indent="0" marL="0">
              <a:buNone/>
            </a:pPr>
            <a:r>
              <a:rPr lang="en-US" sz="1100" dirty="0">
                <a:solidFill>
                  <a:srgbClr val="B3ADC0"/>
                </a:solidFill>
                <a:latin typeface="Calibri" pitchFamily="34" charset="0"/>
                <a:ea typeface="Calibri" pitchFamily="34" charset="-122"/>
                <a:cs typeface="Calibri" pitchFamily="34" charset="-120"/>
              </a:rPr>
              <a:t>Spot three details connected to garlic, light or reflection.</a:t>
            </a:r>
            <a:endParaRPr lang="en-US" sz="1100" dirty="0"/>
          </a:p>
        </p:txBody>
      </p:sp>
      <p:sp>
        <p:nvSpPr>
          <p:cNvPr id="10" name="Shape 7"/>
          <p:cNvSpPr/>
          <p:nvPr/>
        </p:nvSpPr>
        <p:spPr>
          <a:xfrm>
            <a:off x="4663440" y="2084832"/>
            <a:ext cx="4023360" cy="804672"/>
          </a:xfrm>
          <a:prstGeom prst="roundRect">
            <a:avLst>
              <a:gd name="adj" fmla="val 9091"/>
            </a:avLst>
          </a:prstGeom>
          <a:solidFill>
            <a:srgbClr val="221D2F"/>
          </a:solidFill>
          <a:ln w="12700">
            <a:solidFill>
              <a:srgbClr val="221D2F"/>
            </a:solidFill>
            <a:prstDash val="solid"/>
          </a:ln>
        </p:spPr>
      </p:sp>
      <p:sp>
        <p:nvSpPr>
          <p:cNvPr id="11" name="Text 8"/>
          <p:cNvSpPr txBox="1"/>
          <p:nvPr/>
        </p:nvSpPr>
        <p:spPr>
          <a:xfrm>
            <a:off x="4846320" y="2176272"/>
            <a:ext cx="3657600" cy="274320"/>
          </a:xfrm>
          <a:prstGeom prst="rect">
            <a:avLst/>
          </a:prstGeom>
          <a:noFill/>
          <a:ln/>
        </p:spPr>
        <p:txBody>
          <a:bodyPr wrap="square" lIns="0" tIns="0" rIns="0" bIns="0" rtlCol="0" anchor="t"/>
          <a:lstStyle/>
          <a:p>
            <a:pPr indent="0" marL="0">
              <a:buNone/>
            </a:pPr>
            <a:r>
              <a:rPr lang="en-US" sz="1300" b="1" dirty="0">
                <a:solidFill>
                  <a:srgbClr val="D9A04A"/>
                </a:solidFill>
                <a:latin typeface="Calibri" pitchFamily="34" charset="0"/>
                <a:ea typeface="Calibri" pitchFamily="34" charset="-122"/>
                <a:cs typeface="Calibri" pitchFamily="34" charset="-120"/>
              </a:rPr>
              <a:t>Unlock the next moment</a:t>
            </a:r>
            <a:endParaRPr lang="en-US" sz="1300" dirty="0"/>
          </a:p>
        </p:txBody>
      </p:sp>
      <p:sp>
        <p:nvSpPr>
          <p:cNvPr id="12" name="Text 9"/>
          <p:cNvSpPr txBox="1"/>
          <p:nvPr/>
        </p:nvSpPr>
        <p:spPr>
          <a:xfrm>
            <a:off x="4846320" y="2468880"/>
            <a:ext cx="3657600" cy="320040"/>
          </a:xfrm>
          <a:prstGeom prst="rect">
            <a:avLst/>
          </a:prstGeom>
          <a:noFill/>
          <a:ln/>
        </p:spPr>
        <p:txBody>
          <a:bodyPr wrap="square" lIns="0" tIns="0" rIns="0" bIns="0" rtlCol="0" anchor="t"/>
          <a:lstStyle/>
          <a:p>
            <a:pPr indent="0" marL="0">
              <a:buNone/>
            </a:pPr>
            <a:r>
              <a:rPr lang="en-US" sz="1100" dirty="0">
                <a:solidFill>
                  <a:srgbClr val="B3ADC0"/>
                </a:solidFill>
                <a:latin typeface="Calibri" pitchFamily="34" charset="0"/>
                <a:ea typeface="Calibri" pitchFamily="34" charset="-122"/>
                <a:cs typeface="Calibri" pitchFamily="34" charset="-120"/>
              </a:rPr>
              <a:t>Each find opens a short piece of story, sound or film.</a:t>
            </a:r>
            <a:endParaRPr lang="en-US" sz="1100" dirty="0"/>
          </a:p>
        </p:txBody>
      </p:sp>
      <p:sp>
        <p:nvSpPr>
          <p:cNvPr id="13" name="Shape 10"/>
          <p:cNvSpPr/>
          <p:nvPr/>
        </p:nvSpPr>
        <p:spPr>
          <a:xfrm>
            <a:off x="4663440" y="2980944"/>
            <a:ext cx="4023360" cy="804672"/>
          </a:xfrm>
          <a:prstGeom prst="roundRect">
            <a:avLst>
              <a:gd name="adj" fmla="val 9091"/>
            </a:avLst>
          </a:prstGeom>
          <a:solidFill>
            <a:srgbClr val="221D2F"/>
          </a:solidFill>
          <a:ln w="12700">
            <a:solidFill>
              <a:srgbClr val="221D2F"/>
            </a:solidFill>
            <a:prstDash val="solid"/>
          </a:ln>
        </p:spPr>
      </p:sp>
      <p:sp>
        <p:nvSpPr>
          <p:cNvPr id="14" name="Text 11"/>
          <p:cNvSpPr txBox="1"/>
          <p:nvPr/>
        </p:nvSpPr>
        <p:spPr>
          <a:xfrm>
            <a:off x="4846320" y="3072384"/>
            <a:ext cx="3657600" cy="274320"/>
          </a:xfrm>
          <a:prstGeom prst="rect">
            <a:avLst/>
          </a:prstGeom>
          <a:noFill/>
          <a:ln/>
        </p:spPr>
        <p:txBody>
          <a:bodyPr wrap="square" lIns="0" tIns="0" rIns="0" bIns="0" rtlCol="0" anchor="t"/>
          <a:lstStyle/>
          <a:p>
            <a:pPr indent="0" marL="0">
              <a:buNone/>
            </a:pPr>
            <a:r>
              <a:rPr lang="en-US" sz="1300" b="1" dirty="0">
                <a:solidFill>
                  <a:srgbClr val="D9A04A"/>
                </a:solidFill>
                <a:latin typeface="Calibri" pitchFamily="34" charset="0"/>
                <a:ea typeface="Calibri" pitchFamily="34" charset="-122"/>
                <a:cs typeface="Calibri" pitchFamily="34" charset="-120"/>
              </a:rPr>
              <a:t>Choose how the visit ends</a:t>
            </a:r>
            <a:endParaRPr lang="en-US" sz="1300" dirty="0"/>
          </a:p>
        </p:txBody>
      </p:sp>
      <p:sp>
        <p:nvSpPr>
          <p:cNvPr id="15" name="Text 12"/>
          <p:cNvSpPr txBox="1"/>
          <p:nvPr/>
        </p:nvSpPr>
        <p:spPr>
          <a:xfrm>
            <a:off x="4846320" y="3364992"/>
            <a:ext cx="3657600" cy="320040"/>
          </a:xfrm>
          <a:prstGeom prst="rect">
            <a:avLst/>
          </a:prstGeom>
          <a:noFill/>
          <a:ln/>
        </p:spPr>
        <p:txBody>
          <a:bodyPr wrap="square" lIns="0" tIns="0" rIns="0" bIns="0" rtlCol="0" anchor="t"/>
          <a:lstStyle/>
          <a:p>
            <a:pPr indent="0" marL="0">
              <a:buNone/>
            </a:pPr>
            <a:r>
              <a:rPr lang="en-US" sz="1100" dirty="0">
                <a:solidFill>
                  <a:srgbClr val="B3ADC0"/>
                </a:solidFill>
                <a:latin typeface="Calibri" pitchFamily="34" charset="0"/>
                <a:ea typeface="Calibri" pitchFamily="34" charset="-122"/>
                <a:cs typeface="Calibri" pitchFamily="34" charset="-120"/>
              </a:rPr>
              <a:t>Taste something, browse the shop, read more or carry on walking.</a:t>
            </a:r>
            <a:endParaRPr lang="en-US" sz="1100" dirty="0"/>
          </a:p>
        </p:txBody>
      </p:sp>
      <p:sp>
        <p:nvSpPr>
          <p:cNvPr id="16" name="Text 13"/>
          <p:cNvSpPr txBox="1"/>
          <p:nvPr/>
        </p:nvSpPr>
        <p:spPr>
          <a:xfrm>
            <a:off x="4663440" y="3931920"/>
            <a:ext cx="4023360" cy="640080"/>
          </a:xfrm>
          <a:prstGeom prst="rect">
            <a:avLst/>
          </a:prstGeom>
          <a:noFill/>
          <a:ln/>
        </p:spPr>
        <p:txBody>
          <a:bodyPr wrap="square" lIns="0" tIns="0" rIns="0" bIns="0" rtlCol="0" anchor="t"/>
          <a:lstStyle/>
          <a:p>
            <a:pPr indent="0" marL="0">
              <a:buNone/>
            </a:pPr>
            <a:r>
              <a:rPr lang="en-US" sz="1100" dirty="0">
                <a:solidFill>
                  <a:srgbClr val="F3EEE4"/>
                </a:solidFill>
                <a:latin typeface="Calibri" pitchFamily="34" charset="0"/>
                <a:ea typeface="Calibri" pitchFamily="34" charset="-122"/>
                <a:cs typeface="Calibri" pitchFamily="34" charset="-120"/>
              </a:rPr>
              <a:t>All five senses have a place: look for clues, listen to the story, smell and handle the garlic where appropriate, and finish with an optional tasting.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One production, useful to everyone</a:t>
            </a:r>
            <a:endParaRPr lang="en-US" sz="2800" dirty="0"/>
          </a:p>
        </p:txBody>
      </p:sp>
      <p:sp>
        <p:nvSpPr>
          <p:cNvPr id="4" name="Text 2"/>
          <p:cNvSpPr txBox="1"/>
          <p:nvPr/>
        </p:nvSpPr>
        <p:spPr>
          <a:xfrm>
            <a:off x="457200" y="1024128"/>
            <a:ext cx="7863840" cy="411480"/>
          </a:xfrm>
          <a:prstGeom prst="rect">
            <a:avLst/>
          </a:prstGeom>
          <a:noFill/>
          <a:ln/>
        </p:spPr>
        <p:txBody>
          <a:bodyPr wrap="square" lIns="0" tIns="0" rIns="0" bIns="0" rtlCol="0" anchor="t"/>
          <a:lstStyle/>
          <a:p>
            <a:pPr indent="0" marL="0">
              <a:buNone/>
            </a:pPr>
            <a:r>
              <a:rPr lang="en-US" sz="1300" dirty="0">
                <a:solidFill>
                  <a:srgbClr val="B3ADC0"/>
                </a:solidFill>
                <a:latin typeface="Calibri" pitchFamily="34" charset="0"/>
                <a:ea typeface="Calibri" pitchFamily="34" charset="-122"/>
                <a:cs typeface="Calibri" pitchFamily="34" charset="-120"/>
              </a:rPr>
              <a:t>Each asset is made once, approved once and used by every partner. That keeps the cost down and the reach up.</a:t>
            </a:r>
            <a:endParaRPr lang="en-US" sz="1300" dirty="0"/>
          </a:p>
        </p:txBody>
      </p:sp>
      <p:sp>
        <p:nvSpPr>
          <p:cNvPr id="5" name="Text 3"/>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08</a:t>
            </a:r>
            <a:endParaRPr lang="en-US" sz="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481328"/>
          <a:ext cx="8229600" cy="914400"/>
        </p:xfrm>
        <a:graphic>
          <a:graphicData uri="http://schemas.openxmlformats.org/drawingml/2006/table">
            <a:tbl>
              <a:tblPr/>
              <a:tblGrid>
                <a:gridCol w="2194560"/>
                <a:gridCol w="3017520"/>
                <a:gridCol w="3017520"/>
              </a:tblGrid>
              <a:tr h="365760">
                <a:tc>
                  <a:txBody>
                    <a:bodyPr/>
                    <a:lstStyle/>
                    <a:p>
                      <a:pPr indent="0" marL="0">
                        <a:buNone/>
                      </a:pPr>
                      <a:r>
                        <a:rPr lang="en-US" sz="1100" b="1" dirty="0">
                          <a:solidFill>
                            <a:srgbClr val="D9A04A"/>
                          </a:solidFill>
                          <a:latin typeface="Calibri" pitchFamily="34" charset="0"/>
                          <a:ea typeface="Calibri" pitchFamily="34" charset="-122"/>
                          <a:cs typeface="Calibri" pitchFamily="34" charset="-120"/>
                        </a:rPr>
                        <a:t>Asset</a:t>
                      </a:r>
                      <a:endParaRPr lang="en-US" sz="110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100" b="1" dirty="0">
                          <a:solidFill>
                            <a:srgbClr val="D9A04A"/>
                          </a:solidFill>
                          <a:latin typeface="Calibri" pitchFamily="34" charset="0"/>
                          <a:ea typeface="Calibri" pitchFamily="34" charset="-122"/>
                          <a:cs typeface="Calibri" pitchFamily="34" charset="-120"/>
                        </a:rPr>
                        <a:t>For The Garlic Farm</a:t>
                      </a:r>
                      <a:endParaRPr lang="en-US" sz="110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100" b="1" dirty="0">
                          <a:solidFill>
                            <a:srgbClr val="D9A04A"/>
                          </a:solidFill>
                          <a:latin typeface="Calibri" pitchFamily="34" charset="0"/>
                          <a:ea typeface="Calibri" pitchFamily="34" charset="-122"/>
                          <a:cs typeface="Calibri" pitchFamily="34" charset="-120"/>
                        </a:rPr>
                        <a:t>For Pete and Medina Publishing</a:t>
                      </a:r>
                      <a:endParaRPr lang="en-US" sz="110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r>
              <a:tr h="36576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Hero film, 48–60 seconds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Website, social media and on-site screens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Book promotion, author events and school visits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36576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Short vertical edits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Reels and Stories for seasonal pushes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Reader and bookseller posts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36576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Silent screen loop</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Shop, café or entrance screens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Launch and event screens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36576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Still images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Posts, listings and newsletters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Press, book listings and displays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36576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Mobile story pages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The on-farm experience itself</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A live showcase for the book</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36576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Caption and copy bank</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Ready-to-post wording</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Coordinated partner posts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bl>
          </a:graphicData>
        </a:graphic>
      </p:graphicFrame>
      <p:sp>
        <p:nvSpPr>
          <p:cNvPr id="7" name="Text 4"/>
          <p:cNvSpPr txBox="1"/>
          <p:nvPr/>
        </p:nvSpPr>
        <p:spPr>
          <a:xfrm>
            <a:off x="457200" y="4526280"/>
            <a:ext cx="8229600" cy="274320"/>
          </a:xfrm>
          <a:prstGeom prst="rect">
            <a:avLst/>
          </a:prstGeom>
          <a:noFill/>
          <a:ln/>
        </p:spPr>
        <p:txBody>
          <a:bodyPr wrap="square" lIns="0" tIns="0" rIns="0" bIns="0" rtlCol="0" anchor="t"/>
          <a:lstStyle/>
          <a:p>
            <a:pPr indent="0" marL="0">
              <a:buNone/>
            </a:pPr>
            <a:r>
              <a:rPr lang="en-US" sz="1100" i="1" dirty="0">
                <a:solidFill>
                  <a:srgbClr val="D9A04A"/>
                </a:solidFill>
                <a:latin typeface="Calibri" pitchFamily="34" charset="0"/>
                <a:ea typeface="Calibri" pitchFamily="34" charset="-122"/>
                <a:cs typeface="Calibri" pitchFamily="34" charset="-120"/>
              </a:rPr>
              <a:t>IsleConnect receives the agreed delivery fee. Permission to publish an approved case study supports the introductory pricing.</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How the word gets out</a:t>
            </a:r>
            <a:endParaRPr lang="en-US" sz="2800" dirty="0"/>
          </a:p>
        </p:txBody>
      </p:sp>
      <p:sp>
        <p:nvSpPr>
          <p:cNvPr id="4" name="Text 2"/>
          <p:cNvSpPr txBox="1"/>
          <p:nvPr/>
        </p:nvSpPr>
        <p:spPr>
          <a:xfrm>
            <a:off x="457200" y="1024128"/>
            <a:ext cx="7863840" cy="411480"/>
          </a:xfrm>
          <a:prstGeom prst="rect">
            <a:avLst/>
          </a:prstGeom>
          <a:noFill/>
          <a:ln/>
        </p:spPr>
        <p:txBody>
          <a:bodyPr wrap="square" lIns="0" tIns="0" rIns="0" bIns="0" rtlCol="0" anchor="t"/>
          <a:lstStyle/>
          <a:p>
            <a:pPr indent="0" marL="0">
              <a:buNone/>
            </a:pPr>
            <a:r>
              <a:rPr lang="en-US" sz="1300" dirty="0">
                <a:solidFill>
                  <a:srgbClr val="B3ADC0"/>
                </a:solidFill>
                <a:latin typeface="Calibri" pitchFamily="34" charset="0"/>
                <a:ea typeface="Calibri" pitchFamily="34" charset="-122"/>
                <a:cs typeface="Calibri" pitchFamily="34" charset="-120"/>
              </a:rPr>
              <a:t>A distribution plan agreed at kick-off, with a named owner for every channel. Partner sharing is arranged, not assumed.</a:t>
            </a:r>
            <a:endParaRPr lang="en-US" sz="1300" dirty="0"/>
          </a:p>
        </p:txBody>
      </p:sp>
      <p:sp>
        <p:nvSpPr>
          <p:cNvPr id="5" name="Text 3"/>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09</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72768"/>
          <a:ext cx="8229600" cy="914400"/>
        </p:xfrm>
        <a:graphic>
          <a:graphicData uri="http://schemas.openxmlformats.org/drawingml/2006/table">
            <a:tbl>
              <a:tblPr/>
              <a:tblGrid>
                <a:gridCol w="2377440"/>
                <a:gridCol w="4023360"/>
                <a:gridCol w="1828800"/>
              </a:tblGrid>
              <a:tr h="329184">
                <a:tc>
                  <a:txBody>
                    <a:bodyPr/>
                    <a:lstStyle/>
                    <a:p>
                      <a:pPr indent="0" marL="0">
                        <a:buNone/>
                      </a:pPr>
                      <a:r>
                        <a:rPr lang="en-US" sz="1100" b="1" dirty="0">
                          <a:solidFill>
                            <a:srgbClr val="D9A04A"/>
                          </a:solidFill>
                          <a:latin typeface="Calibri" pitchFamily="34" charset="0"/>
                          <a:ea typeface="Calibri" pitchFamily="34" charset="-122"/>
                          <a:cs typeface="Calibri" pitchFamily="34" charset="-120"/>
                        </a:rPr>
                        <a:t>Channel</a:t>
                      </a:r>
                      <a:endParaRPr lang="en-US" sz="110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100" b="1" dirty="0">
                          <a:solidFill>
                            <a:srgbClr val="D9A04A"/>
                          </a:solidFill>
                          <a:latin typeface="Calibri" pitchFamily="34" charset="0"/>
                          <a:ea typeface="Calibri" pitchFamily="34" charset="-122"/>
                          <a:cs typeface="Calibri" pitchFamily="34" charset="-120"/>
                        </a:rPr>
                        <a:t>Who does what</a:t>
                      </a:r>
                      <a:endParaRPr lang="en-US" sz="110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100" b="1" dirty="0">
                          <a:solidFill>
                            <a:srgbClr val="D9A04A"/>
                          </a:solidFill>
                          <a:latin typeface="Calibri" pitchFamily="34" charset="0"/>
                          <a:ea typeface="Calibri" pitchFamily="34" charset="-122"/>
                          <a:cs typeface="Calibri" pitchFamily="34" charset="-120"/>
                        </a:rPr>
                        <a:t>Basis</a:t>
                      </a:r>
                      <a:endParaRPr lang="en-US" sz="110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r>
              <a:tr h="45720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The Garlic Farm’s own channels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IsleConnect prepares posts and captions; the farm chooses what to publish</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Agreed at kick-off</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41148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Pete and Medina Publishing</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Share with readers, booksellers, schools and event audiences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Agreed at kick-off</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45720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Local community and interest groups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IsleConnect identifies relevant family, food, walking and folklore groups and asks first</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Only where each group’s rules allow</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41148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Tourism and partner organisations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IsleConnect approaches; each organisation decides whether to share</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Arranged, not assumed</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411480">
                <a:tc>
                  <a:txBody>
                    <a:bodyPr/>
                    <a:lstStyle/>
                    <a:p>
                      <a:pPr indent="0" marL="0">
                        <a:buNone/>
                      </a:pPr>
                      <a:r>
                        <a:rPr lang="en-US" sz="1050" b="1" dirty="0">
                          <a:solidFill>
                            <a:srgbClr val="F3EEE4"/>
                          </a:solidFill>
                          <a:latin typeface="Calibri" pitchFamily="34" charset="0"/>
                          <a:ea typeface="Calibri" pitchFamily="34" charset="-122"/>
                          <a:cs typeface="Calibri" pitchFamily="34" charset="-120"/>
                        </a:rPr>
                        <a:t>Local press and listings</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IsleConnect drafts; the partners approve before anything is sent</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50" dirty="0">
                          <a:solidFill>
                            <a:srgbClr val="F3EEE4"/>
                          </a:solidFill>
                          <a:latin typeface="Calibri" pitchFamily="34" charset="0"/>
                          <a:ea typeface="Calibri" pitchFamily="34" charset="-122"/>
                          <a:cs typeface="Calibri" pitchFamily="34" charset="-120"/>
                        </a:rPr>
                        <a:t>Optional</a:t>
                      </a:r>
                      <a:endParaRPr lang="en-US" sz="1050" dirty="0">
                        <a:latin typeface="Calibri" charset="0"/>
                        <a:ea typeface="Calibri" charset="0"/>
                        <a:cs typeface="Calibri" charset="0"/>
                      </a:endParaRPr>
                    </a:p>
                  </a:txBody>
                  <a:tcPr marL="101600" marR="101600" marT="38100" marB="381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bl>
          </a:graphicData>
        </a:graphic>
      </p:graphicFrame>
      <p:sp>
        <p:nvSpPr>
          <p:cNvPr id="7" name="Text 4"/>
          <p:cNvSpPr txBox="1"/>
          <p:nvPr/>
        </p:nvSpPr>
        <p:spPr>
          <a:xfrm>
            <a:off x="457200" y="4526280"/>
            <a:ext cx="8229600" cy="274320"/>
          </a:xfrm>
          <a:prstGeom prst="rect">
            <a:avLst/>
          </a:prstGeom>
          <a:noFill/>
          <a:ln/>
        </p:spPr>
        <p:txBody>
          <a:bodyPr wrap="square" lIns="0" tIns="0" rIns="0" bIns="0" rtlCol="0" anchor="t"/>
          <a:lstStyle/>
          <a:p>
            <a:pPr indent="0" marL="0">
              <a:buNone/>
            </a:pPr>
            <a:r>
              <a:rPr lang="en-US" sz="1100" i="1" dirty="0">
                <a:solidFill>
                  <a:srgbClr val="D9A04A"/>
                </a:solidFill>
                <a:latin typeface="Calibri" pitchFamily="34" charset="0"/>
                <a:ea typeface="Calibri" pitchFamily="34" charset="-122"/>
                <a:cs typeface="Calibri" pitchFamily="34" charset="-120"/>
              </a:rPr>
              <a:t>Reach and sales can’t be guaranteed. Each channel is tracked, so effort goes where it works.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Testing a new kind of local marketing</a:t>
            </a:r>
            <a:endParaRPr lang="en-US" sz="2800" dirty="0"/>
          </a:p>
        </p:txBody>
      </p:sp>
      <p:sp>
        <p:nvSpPr>
          <p:cNvPr id="4" name="Text 2"/>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10</a:t>
            </a:r>
            <a:endParaRPr lang="en-US" sz="800" dirty="0"/>
          </a:p>
        </p:txBody>
      </p:sp>
      <p:sp>
        <p:nvSpPr>
          <p:cNvPr id="5" name="Shape 3"/>
          <p:cNvSpPr/>
          <p:nvPr/>
        </p:nvSpPr>
        <p:spPr>
          <a:xfrm>
            <a:off x="457200" y="1188720"/>
            <a:ext cx="4754880" cy="804672"/>
          </a:xfrm>
          <a:prstGeom prst="roundRect">
            <a:avLst>
              <a:gd name="adj" fmla="val 9091"/>
            </a:avLst>
          </a:prstGeom>
          <a:solidFill>
            <a:srgbClr val="221D2F"/>
          </a:solidFill>
          <a:ln w="12700">
            <a:solidFill>
              <a:srgbClr val="221D2F"/>
            </a:solidFill>
            <a:prstDash val="solid"/>
          </a:ln>
        </p:spPr>
      </p:sp>
      <p:sp>
        <p:nvSpPr>
          <p:cNvPr id="6" name="Text 4"/>
          <p:cNvSpPr txBox="1"/>
          <p:nvPr/>
        </p:nvSpPr>
        <p:spPr>
          <a:xfrm>
            <a:off x="640080" y="1280160"/>
            <a:ext cx="4389120" cy="274320"/>
          </a:xfrm>
          <a:prstGeom prst="rect">
            <a:avLst/>
          </a:prstGeom>
          <a:noFill/>
          <a:ln/>
        </p:spPr>
        <p:txBody>
          <a:bodyPr wrap="square" lIns="0" tIns="0" rIns="0" bIns="0" rtlCol="0" anchor="t"/>
          <a:lstStyle/>
          <a:p>
            <a:pPr indent="0" marL="0">
              <a:buNone/>
            </a:pPr>
            <a:r>
              <a:rPr lang="en-US" sz="1300" b="1" dirty="0">
                <a:solidFill>
                  <a:srgbClr val="D9A04A"/>
                </a:solidFill>
                <a:latin typeface="Calibri" pitchFamily="34" charset="0"/>
                <a:ea typeface="Calibri" pitchFamily="34" charset="-122"/>
                <a:cs typeface="Calibri" pitchFamily="34" charset="-120"/>
              </a:rPr>
              <a:t>Real place</a:t>
            </a:r>
            <a:endParaRPr lang="en-US" sz="1300" dirty="0"/>
          </a:p>
        </p:txBody>
      </p:sp>
      <p:sp>
        <p:nvSpPr>
          <p:cNvPr id="7" name="Text 5"/>
          <p:cNvSpPr txBox="1"/>
          <p:nvPr/>
        </p:nvSpPr>
        <p:spPr>
          <a:xfrm>
            <a:off x="640080" y="1554480"/>
            <a:ext cx="4434840" cy="41148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The farm, its land, products and people give the story its truth.</a:t>
            </a:r>
            <a:endParaRPr lang="en-US" sz="1050" dirty="0"/>
          </a:p>
        </p:txBody>
      </p:sp>
      <p:sp>
        <p:nvSpPr>
          <p:cNvPr id="8" name="Shape 6"/>
          <p:cNvSpPr/>
          <p:nvPr/>
        </p:nvSpPr>
        <p:spPr>
          <a:xfrm>
            <a:off x="457200" y="2121408"/>
            <a:ext cx="4754880" cy="804672"/>
          </a:xfrm>
          <a:prstGeom prst="roundRect">
            <a:avLst>
              <a:gd name="adj" fmla="val 9091"/>
            </a:avLst>
          </a:prstGeom>
          <a:solidFill>
            <a:srgbClr val="2B2540"/>
          </a:solidFill>
          <a:ln w="12700">
            <a:solidFill>
              <a:srgbClr val="2B2540"/>
            </a:solidFill>
            <a:prstDash val="solid"/>
          </a:ln>
        </p:spPr>
      </p:sp>
      <p:sp>
        <p:nvSpPr>
          <p:cNvPr id="9" name="Text 7"/>
          <p:cNvSpPr txBox="1"/>
          <p:nvPr/>
        </p:nvSpPr>
        <p:spPr>
          <a:xfrm>
            <a:off x="640080" y="2212848"/>
            <a:ext cx="4389120" cy="274320"/>
          </a:xfrm>
          <a:prstGeom prst="rect">
            <a:avLst/>
          </a:prstGeom>
          <a:noFill/>
          <a:ln/>
        </p:spPr>
        <p:txBody>
          <a:bodyPr wrap="square" lIns="0" tIns="0" rIns="0" bIns="0" rtlCol="0" anchor="t"/>
          <a:lstStyle/>
          <a:p>
            <a:pPr indent="0" marL="0">
              <a:buNone/>
            </a:pPr>
            <a:r>
              <a:rPr lang="en-US" sz="1300" b="1" dirty="0">
                <a:solidFill>
                  <a:srgbClr val="D9A04A"/>
                </a:solidFill>
                <a:latin typeface="Calibri" pitchFamily="34" charset="0"/>
                <a:ea typeface="Calibri" pitchFamily="34" charset="-122"/>
                <a:cs typeface="Calibri" pitchFamily="34" charset="-120"/>
              </a:rPr>
              <a:t>AI-assisted story world</a:t>
            </a:r>
            <a:endParaRPr lang="en-US" sz="1300" dirty="0"/>
          </a:p>
        </p:txBody>
      </p:sp>
      <p:sp>
        <p:nvSpPr>
          <p:cNvPr id="10" name="Text 8"/>
          <p:cNvSpPr txBox="1"/>
          <p:nvPr/>
        </p:nvSpPr>
        <p:spPr>
          <a:xfrm>
            <a:off x="640080" y="2487168"/>
            <a:ext cx="4434840" cy="41148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AI image and video tools create a consistent character, scenes and night-time atmosphere that would otherwise need actors, a crew and night shoots.</a:t>
            </a:r>
            <a:endParaRPr lang="en-US" sz="1050" dirty="0"/>
          </a:p>
        </p:txBody>
      </p:sp>
      <p:sp>
        <p:nvSpPr>
          <p:cNvPr id="11" name="Shape 9"/>
          <p:cNvSpPr/>
          <p:nvPr/>
        </p:nvSpPr>
        <p:spPr>
          <a:xfrm>
            <a:off x="457200" y="3054096"/>
            <a:ext cx="4754880" cy="804672"/>
          </a:xfrm>
          <a:prstGeom prst="roundRect">
            <a:avLst>
              <a:gd name="adj" fmla="val 9091"/>
            </a:avLst>
          </a:prstGeom>
          <a:solidFill>
            <a:srgbClr val="221D2F"/>
          </a:solidFill>
          <a:ln w="12700">
            <a:solidFill>
              <a:srgbClr val="221D2F"/>
            </a:solidFill>
            <a:prstDash val="solid"/>
          </a:ln>
        </p:spPr>
      </p:sp>
      <p:sp>
        <p:nvSpPr>
          <p:cNvPr id="12" name="Text 10"/>
          <p:cNvSpPr txBox="1"/>
          <p:nvPr/>
        </p:nvSpPr>
        <p:spPr>
          <a:xfrm>
            <a:off x="640080" y="3145536"/>
            <a:ext cx="4389120" cy="274320"/>
          </a:xfrm>
          <a:prstGeom prst="rect">
            <a:avLst/>
          </a:prstGeom>
          <a:noFill/>
          <a:ln/>
        </p:spPr>
        <p:txBody>
          <a:bodyPr wrap="square" lIns="0" tIns="0" rIns="0" bIns="0" rtlCol="0" anchor="t"/>
          <a:lstStyle/>
          <a:p>
            <a:pPr indent="0" marL="0">
              <a:buNone/>
            </a:pPr>
            <a:r>
              <a:rPr lang="en-US" sz="1300" b="1" dirty="0">
                <a:solidFill>
                  <a:srgbClr val="D9A04A"/>
                </a:solidFill>
                <a:latin typeface="Calibri" pitchFamily="34" charset="0"/>
                <a:ea typeface="Calibri" pitchFamily="34" charset="-122"/>
                <a:cs typeface="Calibri" pitchFamily="34" charset="-120"/>
              </a:rPr>
              <a:t>Real people</a:t>
            </a:r>
            <a:endParaRPr lang="en-US" sz="1300" dirty="0"/>
          </a:p>
        </p:txBody>
      </p:sp>
      <p:sp>
        <p:nvSpPr>
          <p:cNvPr id="13" name="Text 11"/>
          <p:cNvSpPr txBox="1"/>
          <p:nvPr/>
        </p:nvSpPr>
        <p:spPr>
          <a:xfrm>
            <a:off x="640080" y="3419856"/>
            <a:ext cx="4434840" cy="41148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Pete, the farm’s own team and visitors add the voices and reactions that build trust.</a:t>
            </a:r>
            <a:endParaRPr lang="en-US" sz="1050" dirty="0"/>
          </a:p>
        </p:txBody>
      </p:sp>
      <p:sp>
        <p:nvSpPr>
          <p:cNvPr id="14" name="Text 12"/>
          <p:cNvSpPr txBox="1"/>
          <p:nvPr/>
        </p:nvSpPr>
        <p:spPr>
          <a:xfrm>
            <a:off x="457200" y="4069080"/>
            <a:ext cx="4754880" cy="502920"/>
          </a:xfrm>
          <a:prstGeom prst="rect">
            <a:avLst/>
          </a:prstGeom>
          <a:noFill/>
          <a:ln/>
        </p:spPr>
        <p:txBody>
          <a:bodyPr wrap="square" lIns="0" tIns="0" rIns="0" bIns="0" rtlCol="0" anchor="t"/>
          <a:lstStyle/>
          <a:p>
            <a:pPr indent="0" marL="0">
              <a:buNone/>
            </a:pPr>
            <a:r>
              <a:rPr lang="en-US" sz="1100" dirty="0">
                <a:solidFill>
                  <a:srgbClr val="F3EEE4"/>
                </a:solidFill>
                <a:latin typeface="Calibri" pitchFamily="34" charset="0"/>
                <a:ea typeface="Calibri" pitchFamily="34" charset="-122"/>
                <a:cs typeface="Calibri" pitchFamily="34" charset="-120"/>
              </a:rPr>
              <a:t>People lead throughout: every script, image and film is written, checked and approved by the partners before anything is published.</a:t>
            </a:r>
            <a:endParaRPr lang="en-US" sz="1100" dirty="0"/>
          </a:p>
        </p:txBody>
      </p:sp>
      <p:pic>
        <p:nvPicPr>
          <p:cNvPr id="15" name="Image 0" descr="/tmp/claude-0/-home-claude/44c6354d-2ed6-549b-8a9d-d752d4a7ab5e/scratchpad/build/img/c_matty_face.jpg">    </p:cNvPr>
          <p:cNvPicPr>
            <a:picLocks noChangeAspect="1"/>
          </p:cNvPicPr>
          <p:nvPr/>
        </p:nvPicPr>
        <p:blipFill>
          <a:blip r:embed="rId1"/>
          <a:stretch>
            <a:fillRect/>
          </a:stretch>
        </p:blipFill>
        <p:spPr>
          <a:xfrm>
            <a:off x="5577840" y="1188720"/>
            <a:ext cx="1463040" cy="1920240"/>
          </a:xfrm>
          <a:prstGeom prst="rect">
            <a:avLst/>
          </a:prstGeom>
        </p:spPr>
      </p:pic>
      <p:sp>
        <p:nvSpPr>
          <p:cNvPr id="16" name="Text 13"/>
          <p:cNvSpPr txBox="1"/>
          <p:nvPr/>
        </p:nvSpPr>
        <p:spPr>
          <a:xfrm>
            <a:off x="5577840" y="3182112"/>
            <a:ext cx="1463040" cy="228600"/>
          </a:xfrm>
          <a:prstGeom prst="rect">
            <a:avLst/>
          </a:prstGeom>
          <a:noFill/>
          <a:ln/>
        </p:spPr>
        <p:txBody>
          <a:bodyPr wrap="square" lIns="0" tIns="0" rIns="0" bIns="0" rtlCol="0" anchor="t"/>
          <a:lstStyle/>
          <a:p>
            <a:pPr indent="0" marL="0">
              <a:buNone/>
            </a:pPr>
            <a:r>
              <a:rPr lang="en-US" sz="1000" b="1" dirty="0">
                <a:solidFill>
                  <a:srgbClr val="D9A04A"/>
                </a:solidFill>
                <a:latin typeface="Calibri" pitchFamily="34" charset="0"/>
                <a:ea typeface="Calibri" pitchFamily="34" charset="-122"/>
                <a:cs typeface="Calibri" pitchFamily="34" charset="-120"/>
              </a:rPr>
              <a:t>Character master</a:t>
            </a:r>
            <a:endParaRPr lang="en-US" sz="1000" dirty="0"/>
          </a:p>
        </p:txBody>
      </p:sp>
      <p:pic>
        <p:nvPicPr>
          <p:cNvPr id="17" name="Image 1" descr="/tmp/claude-0/-home-claude/44c6354d-2ed6-549b-8a9d-d752d4a7ab5e/scratchpad/build/img/c_matty_cafe.jpg">    </p:cNvPr>
          <p:cNvPicPr>
            <a:picLocks noChangeAspect="1"/>
          </p:cNvPicPr>
          <p:nvPr/>
        </p:nvPicPr>
        <p:blipFill>
          <a:blip r:embed="rId2"/>
          <a:stretch>
            <a:fillRect/>
          </a:stretch>
        </p:blipFill>
        <p:spPr>
          <a:xfrm>
            <a:off x="7178040" y="1188720"/>
            <a:ext cx="1463040" cy="1920240"/>
          </a:xfrm>
          <a:prstGeom prst="rect">
            <a:avLst/>
          </a:prstGeom>
        </p:spPr>
      </p:pic>
      <p:sp>
        <p:nvSpPr>
          <p:cNvPr id="18" name="Text 14"/>
          <p:cNvSpPr txBox="1"/>
          <p:nvPr/>
        </p:nvSpPr>
        <p:spPr>
          <a:xfrm>
            <a:off x="7178040" y="3182112"/>
            <a:ext cx="1463040" cy="228600"/>
          </a:xfrm>
          <a:prstGeom prst="rect">
            <a:avLst/>
          </a:prstGeom>
          <a:noFill/>
          <a:ln/>
        </p:spPr>
        <p:txBody>
          <a:bodyPr wrap="square" lIns="0" tIns="0" rIns="0" bIns="0" rtlCol="0" anchor="t"/>
          <a:lstStyle/>
          <a:p>
            <a:pPr indent="0" marL="0">
              <a:buNone/>
            </a:pPr>
            <a:r>
              <a:rPr lang="en-US" sz="1000" b="1" dirty="0">
                <a:solidFill>
                  <a:srgbClr val="D9A04A"/>
                </a:solidFill>
                <a:latin typeface="Calibri" pitchFamily="34" charset="0"/>
                <a:ea typeface="Calibri" pitchFamily="34" charset="-122"/>
                <a:cs typeface="Calibri" pitchFamily="34" charset="-120"/>
              </a:rPr>
              <a:t>Café scene</a:t>
            </a:r>
            <a:endParaRPr lang="en-US" sz="1000" dirty="0"/>
          </a:p>
        </p:txBody>
      </p:sp>
      <p:sp>
        <p:nvSpPr>
          <p:cNvPr id="19" name="Text 15"/>
          <p:cNvSpPr txBox="1"/>
          <p:nvPr/>
        </p:nvSpPr>
        <p:spPr>
          <a:xfrm>
            <a:off x="5577840" y="3493008"/>
            <a:ext cx="3063240" cy="731520"/>
          </a:xfrm>
          <a:prstGeom prst="rect">
            <a:avLst/>
          </a:prstGeom>
          <a:noFill/>
          <a:ln/>
        </p:spPr>
        <p:txBody>
          <a:bodyPr wrap="square" lIns="0" tIns="0" rIns="0" bIns="0" rtlCol="0" anchor="t"/>
          <a:lstStyle/>
          <a:p>
            <a:pPr indent="0" marL="0">
              <a:buNone/>
            </a:pPr>
            <a:r>
              <a:rPr lang="en-US" sz="1000" dirty="0">
                <a:solidFill>
                  <a:srgbClr val="B3ADC0"/>
                </a:solidFill>
                <a:latin typeface="Calibri" pitchFamily="34" charset="0"/>
                <a:ea typeface="Calibri" pitchFamily="34" charset="-122"/>
                <a:cs typeface="Calibri" pitchFamily="34" charset="-120"/>
              </a:rPr>
              <a:t>Generated separately, shown at the same scale: the same face, hair, hoodie and pendant. That consistency is what lets one character carry a whole campaign.</a:t>
            </a:r>
            <a:endParaRPr lang="en-US" sz="1000" dirty="0"/>
          </a:p>
        </p:txBody>
      </p:sp>
      <p:sp>
        <p:nvSpPr>
          <p:cNvPr id="20" name="Text 16"/>
          <p:cNvSpPr txBox="1"/>
          <p:nvPr/>
        </p:nvSpPr>
        <p:spPr>
          <a:xfrm>
            <a:off x="457200" y="4645152"/>
            <a:ext cx="7680960" cy="274320"/>
          </a:xfrm>
          <a:prstGeom prst="rect">
            <a:avLst/>
          </a:prstGeom>
          <a:noFill/>
          <a:ln/>
        </p:spPr>
        <p:txBody>
          <a:bodyPr wrap="square" lIns="0" tIns="0" rIns="0" bIns="0" rtlCol="0" anchor="t"/>
          <a:lstStyle/>
          <a:p>
            <a:pPr indent="0" marL="0">
              <a:buNone/>
            </a:pPr>
            <a:r>
              <a:rPr lang="en-US" sz="1100" i="1" dirty="0">
                <a:solidFill>
                  <a:srgbClr val="D9A04A"/>
                </a:solidFill>
                <a:latin typeface="Calibri" pitchFamily="34" charset="0"/>
                <a:ea typeface="Calibri" pitchFamily="34" charset="-122"/>
                <a:cs typeface="Calibri" pitchFamily="34" charset="-120"/>
              </a:rPr>
              <a:t>The story world attracts attention. The farm, the author and visitors provide the trust.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Low risk, and measured from day one</a:t>
            </a:r>
            <a:endParaRPr lang="en-US" sz="2800" dirty="0"/>
          </a:p>
        </p:txBody>
      </p:sp>
      <p:sp>
        <p:nvSpPr>
          <p:cNvPr id="4" name="Text 2"/>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11</a:t>
            </a:r>
            <a:endParaRPr lang="en-US" sz="800" dirty="0"/>
          </a:p>
        </p:txBody>
      </p:sp>
      <p:sp>
        <p:nvSpPr>
          <p:cNvPr id="5" name="Shape 3"/>
          <p:cNvSpPr/>
          <p:nvPr/>
        </p:nvSpPr>
        <p:spPr>
          <a:xfrm>
            <a:off x="457200" y="1188720"/>
            <a:ext cx="3977640" cy="3246120"/>
          </a:xfrm>
          <a:prstGeom prst="roundRect">
            <a:avLst>
              <a:gd name="adj" fmla="val 2254"/>
            </a:avLst>
          </a:prstGeom>
          <a:solidFill>
            <a:srgbClr val="221D2F"/>
          </a:solidFill>
          <a:ln w="12700">
            <a:solidFill>
              <a:srgbClr val="221D2F"/>
            </a:solidFill>
            <a:prstDash val="solid"/>
          </a:ln>
        </p:spPr>
      </p:sp>
      <p:sp>
        <p:nvSpPr>
          <p:cNvPr id="6" name="Shape 4"/>
          <p:cNvSpPr/>
          <p:nvPr/>
        </p:nvSpPr>
        <p:spPr>
          <a:xfrm>
            <a:off x="4709160" y="1188720"/>
            <a:ext cx="3977640" cy="3246120"/>
          </a:xfrm>
          <a:prstGeom prst="roundRect">
            <a:avLst>
              <a:gd name="adj" fmla="val 2254"/>
            </a:avLst>
          </a:prstGeom>
          <a:solidFill>
            <a:srgbClr val="221D2F"/>
          </a:solidFill>
          <a:ln w="12700">
            <a:solidFill>
              <a:srgbClr val="221D2F"/>
            </a:solidFill>
            <a:prstDash val="solid"/>
          </a:ln>
        </p:spPr>
      </p:sp>
      <p:sp>
        <p:nvSpPr>
          <p:cNvPr id="7" name="Text 5"/>
          <p:cNvSpPr txBox="1"/>
          <p:nvPr/>
        </p:nvSpPr>
        <p:spPr>
          <a:xfrm>
            <a:off x="640080" y="1325880"/>
            <a:ext cx="3657600" cy="320040"/>
          </a:xfrm>
          <a:prstGeom prst="rect">
            <a:avLst/>
          </a:prstGeom>
          <a:noFill/>
          <a:ln/>
        </p:spPr>
        <p:txBody>
          <a:bodyPr wrap="square" lIns="0" tIns="0" rIns="0" bIns="0" rtlCol="0" anchor="t"/>
          <a:lstStyle/>
          <a:p>
            <a:pPr indent="0" marL="0">
              <a:buNone/>
            </a:pPr>
            <a:r>
              <a:rPr lang="en-US" sz="1600" dirty="0">
                <a:solidFill>
                  <a:srgbClr val="D9A04A"/>
                </a:solidFill>
                <a:latin typeface="Cambria" pitchFamily="34" charset="0"/>
                <a:ea typeface="Cambria" pitchFamily="34" charset="-122"/>
                <a:cs typeface="Cambria" pitchFamily="34" charset="-120"/>
              </a:rPr>
              <a:t>Built-in safeguards</a:t>
            </a:r>
            <a:endParaRPr lang="en-US" sz="1600" dirty="0"/>
          </a:p>
        </p:txBody>
      </p:sp>
      <p:sp>
        <p:nvSpPr>
          <p:cNvPr id="8" name="Text 6"/>
          <p:cNvSpPr txBox="1"/>
          <p:nvPr/>
        </p:nvSpPr>
        <p:spPr>
          <a:xfrm>
            <a:off x="4892040" y="1325880"/>
            <a:ext cx="3657600" cy="320040"/>
          </a:xfrm>
          <a:prstGeom prst="rect">
            <a:avLst/>
          </a:prstGeom>
          <a:noFill/>
          <a:ln/>
        </p:spPr>
        <p:txBody>
          <a:bodyPr wrap="square" lIns="0" tIns="0" rIns="0" bIns="0" rtlCol="0" anchor="t"/>
          <a:lstStyle/>
          <a:p>
            <a:pPr indent="0" marL="0">
              <a:buNone/>
            </a:pPr>
            <a:r>
              <a:rPr lang="en-US" sz="1600" dirty="0">
                <a:solidFill>
                  <a:srgbClr val="D9A04A"/>
                </a:solidFill>
                <a:latin typeface="Cambria" pitchFamily="34" charset="0"/>
                <a:ea typeface="Cambria" pitchFamily="34" charset="-122"/>
                <a:cs typeface="Cambria" pitchFamily="34" charset="-120"/>
              </a:rPr>
              <a:t>What the pilot measures</a:t>
            </a:r>
            <a:endParaRPr lang="en-US" sz="1600" dirty="0"/>
          </a:p>
        </p:txBody>
      </p:sp>
      <p:sp>
        <p:nvSpPr>
          <p:cNvPr id="9" name="Text 7"/>
          <p:cNvSpPr txBox="1"/>
          <p:nvPr/>
        </p:nvSpPr>
        <p:spPr>
          <a:xfrm>
            <a:off x="640080" y="1783080"/>
            <a:ext cx="3657600" cy="260604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Clearly presented as fiction, alongside real farm facts</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No app, account or personal details needed to use the trail</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Any optional newsletter sign-up uses the farm’s existing consent process</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Visit counts use anonymous analytics, with settings checked before launch</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Nothing published without farm, author and publisher approval</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Matty is a fictional, generated character; no real child is filmed</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Fits around normal operations, for a defined trial period</a:t>
            </a:r>
            <a:endParaRPr lang="en-US" sz="1100" dirty="0"/>
          </a:p>
        </p:txBody>
      </p:sp>
      <p:sp>
        <p:nvSpPr>
          <p:cNvPr id="10" name="Text 8"/>
          <p:cNvSpPr txBox="1"/>
          <p:nvPr/>
        </p:nvSpPr>
        <p:spPr>
          <a:xfrm>
            <a:off x="4892040" y="1783080"/>
            <a:ext cx="3657600" cy="2560320"/>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QR scans and story starts</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Progress through each stop, and completions</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Clicks towards the shop, menu, booking and book</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An optional redemption code for a clear sales signal</a:t>
            </a:r>
            <a:endParaRPr lang="en-US" sz="1100" dirty="0"/>
          </a:p>
          <a:p>
            <a:pPr marL="152400" indent="-152400">
              <a:spcAft>
                <a:spcPts val="600"/>
              </a:spcAft>
              <a:buSzPct val="100000"/>
              <a:buChar char="•"/>
            </a:pPr>
            <a:r>
              <a:rPr lang="en-US" sz="1100" dirty="0">
                <a:solidFill>
                  <a:srgbClr val="F3EEE4"/>
                </a:solidFill>
                <a:latin typeface="Calibri" pitchFamily="34" charset="0"/>
                <a:ea typeface="Calibri" pitchFamily="34" charset="-122"/>
                <a:cs typeface="Calibri" pitchFamily="34" charset="-120"/>
              </a:rPr>
              <a:t>Short visitor feedback and staff observations</a:t>
            </a:r>
            <a:endParaRPr lang="en-US" sz="1100" dirty="0"/>
          </a:p>
        </p:txBody>
      </p:sp>
      <p:sp>
        <p:nvSpPr>
          <p:cNvPr id="11" name="Text 9"/>
          <p:cNvSpPr txBox="1"/>
          <p:nvPr/>
        </p:nvSpPr>
        <p:spPr>
          <a:xfrm>
            <a:off x="457200" y="4553712"/>
            <a:ext cx="7772400" cy="274320"/>
          </a:xfrm>
          <a:prstGeom prst="rect">
            <a:avLst/>
          </a:prstGeom>
          <a:noFill/>
          <a:ln/>
        </p:spPr>
        <p:txBody>
          <a:bodyPr wrap="square" lIns="0" tIns="0" rIns="0" bIns="0" rtlCol="0" anchor="t"/>
          <a:lstStyle/>
          <a:p>
            <a:pPr indent="0" marL="0">
              <a:buNone/>
            </a:pPr>
            <a:r>
              <a:rPr lang="en-US" sz="1050" i="1" dirty="0">
                <a:solidFill>
                  <a:srgbClr val="B3ADC0"/>
                </a:solidFill>
                <a:latin typeface="Calibri" pitchFamily="34" charset="0"/>
                <a:ea typeface="Calibri" pitchFamily="34" charset="-122"/>
                <a:cs typeface="Calibri" pitchFamily="34" charset="-120"/>
              </a:rPr>
              <a:t>Reach and sales can’t be guaranteed. The pilot measures what actually happens, so the next decision rests on evidence.</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The investment</a:t>
            </a:r>
            <a:endParaRPr lang="en-US" sz="2800" dirty="0"/>
          </a:p>
        </p:txBody>
      </p:sp>
      <p:sp>
        <p:nvSpPr>
          <p:cNvPr id="4" name="Text 2"/>
          <p:cNvSpPr txBox="1"/>
          <p:nvPr/>
        </p:nvSpPr>
        <p:spPr>
          <a:xfrm>
            <a:off x="457200" y="1024128"/>
            <a:ext cx="7863840" cy="411480"/>
          </a:xfrm>
          <a:prstGeom prst="rect">
            <a:avLst/>
          </a:prstGeom>
          <a:noFill/>
          <a:ln/>
        </p:spPr>
        <p:txBody>
          <a:bodyPr wrap="square" lIns="0" tIns="0" rIns="0" bIns="0" rtlCol="0" anchor="t"/>
          <a:lstStyle/>
          <a:p>
            <a:pPr indent="0" marL="0">
              <a:buNone/>
            </a:pPr>
            <a:r>
              <a:rPr lang="en-US" sz="1300" dirty="0">
                <a:solidFill>
                  <a:srgbClr val="B3ADC0"/>
                </a:solidFill>
                <a:latin typeface="Calibri" pitchFamily="34" charset="0"/>
                <a:ea typeface="Calibri" pitchFamily="34" charset="-122"/>
                <a:cs typeface="Calibri" pitchFamily="34" charset="-120"/>
              </a:rPr>
              <a:t>Start small, prove it, then decide. Indicative until the site walk fixes the scope.</a:t>
            </a:r>
            <a:endParaRPr lang="en-US" sz="1300" dirty="0"/>
          </a:p>
        </p:txBody>
      </p:sp>
      <p:sp>
        <p:nvSpPr>
          <p:cNvPr id="5" name="Text 3"/>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12</a:t>
            </a:r>
            <a:endParaRPr lang="en-US" sz="8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371600"/>
                <a:gridCol w="2286000"/>
                <a:gridCol w="2286000"/>
                <a:gridCol w="2286000"/>
              </a:tblGrid>
              <a:tr h="329184">
                <a:tc>
                  <a:txBody>
                    <a:bodyPr/>
                    <a:lstStyle/>
                    <a:p>
                      <a:pPr indent="0" marL="0">
                        <a:buNone/>
                      </a:pPr>
                      <a:endParaRPr lang="en-US" sz="12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16131F"/>
                    </a:solidFill>
                  </a:tcPr>
                </a:tc>
                <a:tc>
                  <a:txBody>
                    <a:bodyPr/>
                    <a:lstStyle/>
                    <a:p>
                      <a:pPr indent="0" marL="0">
                        <a:buNone/>
                      </a:pPr>
                      <a:r>
                        <a:rPr lang="en-US" sz="1300" b="1" dirty="0">
                          <a:solidFill>
                            <a:srgbClr val="16131F"/>
                          </a:solidFill>
                          <a:latin typeface="Cambria" pitchFamily="34" charset="0"/>
                          <a:ea typeface="Cambria" pitchFamily="34" charset="-122"/>
                          <a:cs typeface="Cambria" pitchFamily="34" charset="-120"/>
                        </a:rPr>
                        <a:t>Story Test</a:t>
                      </a:r>
                      <a:endParaRPr lang="en-US" sz="1300" dirty="0">
                        <a:latin typeface="Cambria" charset="0"/>
                        <a:ea typeface="Cambria" charset="0"/>
                        <a:cs typeface="Cambria"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D9A04A"/>
                    </a:solidFill>
                  </a:tcPr>
                </a:tc>
                <a:tc>
                  <a:txBody>
                    <a:bodyPr/>
                    <a:lstStyle/>
                    <a:p>
                      <a:pPr indent="0" marL="0">
                        <a:buNone/>
                      </a:pPr>
                      <a:r>
                        <a:rPr lang="en-US" sz="1300" b="1" dirty="0">
                          <a:solidFill>
                            <a:srgbClr val="D9A04A"/>
                          </a:solidFill>
                          <a:latin typeface="Cambria" pitchFamily="34" charset="0"/>
                          <a:ea typeface="Cambria" pitchFamily="34" charset="-122"/>
                          <a:cs typeface="Cambria" pitchFamily="34" charset="-120"/>
                        </a:rPr>
                        <a:t>Venue Campaign</a:t>
                      </a:r>
                      <a:endParaRPr lang="en-US" sz="1300" dirty="0">
                        <a:latin typeface="Cambria" charset="0"/>
                        <a:ea typeface="Cambria" charset="0"/>
                        <a:cs typeface="Cambria"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300" b="1" dirty="0">
                          <a:solidFill>
                            <a:srgbClr val="D9A04A"/>
                          </a:solidFill>
                          <a:latin typeface="Cambria" pitchFamily="34" charset="0"/>
                          <a:ea typeface="Cambria" pitchFamily="34" charset="-122"/>
                          <a:cs typeface="Cambria" pitchFamily="34" charset="-120"/>
                        </a:rPr>
                        <a:t>Island Anchor</a:t>
                      </a:r>
                      <a:endParaRPr lang="en-US" sz="1300" dirty="0">
                        <a:latin typeface="Cambria" charset="0"/>
                        <a:ea typeface="Cambria" charset="0"/>
                        <a:cs typeface="Cambria"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r>
              <a:tr h="329184">
                <a:tc>
                  <a:txBody>
                    <a:bodyPr/>
                    <a:lstStyle/>
                    <a:p>
                      <a:pPr indent="0" marL="0">
                        <a:buNone/>
                      </a:pPr>
                      <a:r>
                        <a:rPr lang="en-US" sz="1000" b="1" dirty="0">
                          <a:solidFill>
                            <a:srgbClr val="F3EEE4"/>
                          </a:solidFill>
                          <a:latin typeface="Calibri" pitchFamily="34" charset="0"/>
                          <a:ea typeface="Calibri" pitchFamily="34" charset="-122"/>
                          <a:cs typeface="Calibri" pitchFamily="34" charset="-120"/>
                        </a:rPr>
                        <a:t>Purpose</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Recommended start: prove one short visitor journey</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3A2F22"/>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Launch and refine a family campaign</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The first venue in a wider Island story</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256032">
                <a:tc>
                  <a:txBody>
                    <a:bodyPr/>
                    <a:lstStyle/>
                    <a:p>
                      <a:pPr indent="0" marL="0">
                        <a:buNone/>
                      </a:pPr>
                      <a:r>
                        <a:rPr lang="en-US" sz="1000" b="1" dirty="0">
                          <a:solidFill>
                            <a:srgbClr val="F3EEE4"/>
                          </a:solidFill>
                          <a:latin typeface="Calibri" pitchFamily="34" charset="0"/>
                          <a:ea typeface="Calibri" pitchFamily="34" charset="-122"/>
                          <a:cs typeface="Calibri" pitchFamily="34" charset="-120"/>
                        </a:rPr>
                        <a:t>On the farm</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3 stops</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3A2F22"/>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3 stops plus family challenge</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Up to 6 touchpoints and a partner route</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365760">
                <a:tc>
                  <a:txBody>
                    <a:bodyPr/>
                    <a:lstStyle/>
                    <a:p>
                      <a:pPr indent="0" marL="0">
                        <a:buNone/>
                      </a:pPr>
                      <a:r>
                        <a:rPr lang="en-US" sz="1000" b="1" dirty="0">
                          <a:solidFill>
                            <a:srgbClr val="F3EEE4"/>
                          </a:solidFill>
                          <a:latin typeface="Calibri" pitchFamily="34" charset="0"/>
                          <a:ea typeface="Calibri" pitchFamily="34" charset="-122"/>
                          <a:cs typeface="Calibri" pitchFamily="34" charset="-120"/>
                        </a:rPr>
                        <a:t>Film and campaign</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Hero film and 3 posts</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3A2F22"/>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Hero film, short edits, 8-week sequence</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Expanded asset bank, silent screen edit, 12-week sequence</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256032">
                <a:tc>
                  <a:txBody>
                    <a:bodyPr/>
                    <a:lstStyle/>
                    <a:p>
                      <a:pPr indent="0" marL="0">
                        <a:buNone/>
                      </a:pPr>
                      <a:r>
                        <a:rPr lang="en-US" sz="1000" b="1" dirty="0">
                          <a:solidFill>
                            <a:srgbClr val="F3EEE4"/>
                          </a:solidFill>
                          <a:latin typeface="Calibri" pitchFamily="34" charset="0"/>
                          <a:ea typeface="Calibri" pitchFamily="34" charset="-122"/>
                          <a:cs typeface="Calibri" pitchFamily="34" charset="-120"/>
                        </a:rPr>
                        <a:t>Real-people content</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Not included</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3A2F22"/>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One agreed filming session</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Book launch or venue filming session</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256032">
                <a:tc>
                  <a:txBody>
                    <a:bodyPr/>
                    <a:lstStyle/>
                    <a:p>
                      <a:pPr indent="0" marL="0">
                        <a:buNone/>
                      </a:pPr>
                      <a:r>
                        <a:rPr lang="en-US" sz="1000" b="1" dirty="0">
                          <a:solidFill>
                            <a:srgbClr val="F3EEE4"/>
                          </a:solidFill>
                          <a:latin typeface="Calibri" pitchFamily="34" charset="0"/>
                          <a:ea typeface="Calibri" pitchFamily="34" charset="-122"/>
                          <a:cs typeface="Calibri" pitchFamily="34" charset="-120"/>
                        </a:rPr>
                        <a:t>Included period</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4-week live trial</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3A2F22"/>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8-week campaign</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12-week campaign</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256032">
                <a:tc>
                  <a:txBody>
                    <a:bodyPr/>
                    <a:lstStyle/>
                    <a:p>
                      <a:pPr indent="0" marL="0">
                        <a:buNone/>
                      </a:pPr>
                      <a:r>
                        <a:rPr lang="en-US" sz="1000" b="1" dirty="0">
                          <a:solidFill>
                            <a:srgbClr val="F3EEE4"/>
                          </a:solidFill>
                          <a:latin typeface="Calibri" pitchFamily="34" charset="0"/>
                          <a:ea typeface="Calibri" pitchFamily="34" charset="-122"/>
                          <a:cs typeface="Calibri" pitchFamily="34" charset="-120"/>
                        </a:rPr>
                        <a:t>Reporting</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End-of-trial summary</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3A2F22"/>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Monthly review and final report</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Monthly refinement and partner report</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329184">
                <a:tc>
                  <a:txBody>
                    <a:bodyPr/>
                    <a:lstStyle/>
                    <a:p>
                      <a:pPr indent="0" marL="0">
                        <a:buNone/>
                      </a:pPr>
                      <a:r>
                        <a:rPr lang="en-US" sz="1000" b="1" dirty="0">
                          <a:solidFill>
                            <a:srgbClr val="F3EEE4"/>
                          </a:solidFill>
                          <a:latin typeface="Calibri" pitchFamily="34" charset="0"/>
                          <a:ea typeface="Calibri" pitchFamily="34" charset="-122"/>
                          <a:cs typeface="Calibri" pitchFamily="34" charset="-120"/>
                        </a:rPr>
                        <a:t>Production fee</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400" b="1" dirty="0">
                          <a:solidFill>
                            <a:srgbClr val="F3EEE4"/>
                          </a:solidFill>
                          <a:latin typeface="Calibri" pitchFamily="34" charset="0"/>
                          <a:ea typeface="Calibri" pitchFamily="34" charset="-122"/>
                          <a:cs typeface="Calibri" pitchFamily="34" charset="-120"/>
                        </a:rPr>
                        <a:t>£1,450</a:t>
                      </a:r>
                      <a:endParaRPr lang="en-US" sz="14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3A2F22"/>
                    </a:solidFill>
                  </a:tcPr>
                </a:tc>
                <a:tc>
                  <a:txBody>
                    <a:bodyPr/>
                    <a:lstStyle/>
                    <a:p>
                      <a:pPr indent="0" marL="0">
                        <a:buNone/>
                      </a:pPr>
                      <a:r>
                        <a:rPr lang="en-US" sz="1400" b="1" dirty="0">
                          <a:solidFill>
                            <a:srgbClr val="F3EEE4"/>
                          </a:solidFill>
                          <a:latin typeface="Calibri" pitchFamily="34" charset="0"/>
                          <a:ea typeface="Calibri" pitchFamily="34" charset="-122"/>
                          <a:cs typeface="Calibri" pitchFamily="34" charset="-120"/>
                        </a:rPr>
                        <a:t>£3,250</a:t>
                      </a:r>
                      <a:endParaRPr lang="en-US" sz="14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400" b="1" dirty="0">
                          <a:solidFill>
                            <a:srgbClr val="F3EEE4"/>
                          </a:solidFill>
                          <a:latin typeface="Calibri" pitchFamily="34" charset="0"/>
                          <a:ea typeface="Calibri" pitchFamily="34" charset="-122"/>
                          <a:cs typeface="Calibri" pitchFamily="34" charset="-120"/>
                        </a:rPr>
                        <a:t>£5,950</a:t>
                      </a:r>
                      <a:endParaRPr lang="en-US" sz="14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r h="329184">
                <a:tc>
                  <a:txBody>
                    <a:bodyPr/>
                    <a:lstStyle/>
                    <a:p>
                      <a:pPr indent="0" marL="0">
                        <a:buNone/>
                      </a:pPr>
                      <a:r>
                        <a:rPr lang="en-US" sz="1000" b="1" dirty="0">
                          <a:solidFill>
                            <a:srgbClr val="F3EEE4"/>
                          </a:solidFill>
                          <a:latin typeface="Calibri" pitchFamily="34" charset="0"/>
                          <a:ea typeface="Calibri" pitchFamily="34" charset="-122"/>
                          <a:cs typeface="Calibri" pitchFamily="34" charset="-120"/>
                        </a:rPr>
                        <a:t>After the included period</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B2540"/>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Extension quoted if wanted</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3A2F22"/>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Optional support, £450 per month</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c>
                  <a:txBody>
                    <a:bodyPr/>
                    <a:lstStyle/>
                    <a:p>
                      <a:pPr indent="0" marL="0">
                        <a:buNone/>
                      </a:pPr>
                      <a:r>
                        <a:rPr lang="en-US" sz="1000" dirty="0">
                          <a:solidFill>
                            <a:srgbClr val="F3EEE4"/>
                          </a:solidFill>
                          <a:latin typeface="Calibri" pitchFamily="34" charset="0"/>
                          <a:ea typeface="Calibri" pitchFamily="34" charset="-122"/>
                          <a:cs typeface="Calibri" pitchFamily="34" charset="-120"/>
                        </a:rPr>
                        <a:t>Optional support, £750 per month</a:t>
                      </a:r>
                      <a:endParaRPr lang="en-US" sz="1000" dirty="0">
                        <a:latin typeface="Calibri" charset="0"/>
                        <a:ea typeface="Calibri" charset="0"/>
                        <a:cs typeface="Calibri" charset="0"/>
                      </a:endParaRPr>
                    </a:p>
                  </a:txBody>
                  <a:tcPr marL="88900" marR="88900" marT="25400" marB="25400" anchor="ctr">
                    <a:lnL w="25400" cap="flat" cmpd="sng" algn="ctr">
                      <a:solidFill>
                        <a:srgbClr val="16131F"/>
                      </a:solidFill>
                      <a:prstDash val="solid"/>
                      <a:round/>
                      <a:headEnd type="none" w="med" len="med"/>
                      <a:tailEnd type="none" w="med" len="med"/>
                    </a:lnL>
                    <a:lnR w="25400" cap="flat" cmpd="sng" algn="ctr">
                      <a:solidFill>
                        <a:srgbClr val="16131F"/>
                      </a:solidFill>
                      <a:prstDash val="solid"/>
                      <a:round/>
                      <a:headEnd type="none" w="med" len="med"/>
                      <a:tailEnd type="none" w="med" len="med"/>
                    </a:lnR>
                    <a:lnT w="25400" cap="flat" cmpd="sng" algn="ctr">
                      <a:solidFill>
                        <a:srgbClr val="16131F"/>
                      </a:solidFill>
                      <a:prstDash val="solid"/>
                      <a:round/>
                      <a:headEnd type="none" w="med" len="med"/>
                      <a:tailEnd type="none" w="med" len="med"/>
                    </a:lnT>
                    <a:lnB w="25400" cap="flat" cmpd="sng" algn="ctr">
                      <a:solidFill>
                        <a:srgbClr val="16131F"/>
                      </a:solidFill>
                      <a:prstDash val="solid"/>
                      <a:round/>
                      <a:headEnd type="none" w="med" len="med"/>
                      <a:tailEnd type="none" w="med" len="med"/>
                    </a:lnB>
                    <a:solidFill>
                      <a:srgbClr val="221D2F"/>
                    </a:solidFill>
                  </a:tcPr>
                </a:tc>
              </a:tr>
            </a:tbl>
          </a:graphicData>
        </a:graphic>
      </p:graphicFrame>
      <p:sp>
        <p:nvSpPr>
          <p:cNvPr id="7" name="Text 4"/>
          <p:cNvSpPr txBox="1"/>
          <p:nvPr/>
        </p:nvSpPr>
        <p:spPr>
          <a:xfrm>
            <a:off x="457200" y="4224528"/>
            <a:ext cx="7772400" cy="502920"/>
          </a:xfrm>
          <a:prstGeom prst="rect">
            <a:avLst/>
          </a:prstGeom>
          <a:noFill/>
          <a:ln/>
        </p:spPr>
        <p:txBody>
          <a:bodyPr wrap="square" lIns="0" tIns="0" rIns="0" bIns="0" rtlCol="0" anchor="t"/>
          <a:lstStyle/>
          <a:p>
            <a:pPr indent="0" marL="0">
              <a:buNone/>
            </a:pPr>
            <a:r>
              <a:rPr lang="en-US" sz="950" b="1" dirty="0">
                <a:solidFill>
                  <a:srgbClr val="F3EEE4"/>
                </a:solidFill>
                <a:latin typeface="Calibri" pitchFamily="34" charset="0"/>
                <a:ea typeface="Calibri" pitchFamily="34" charset="-122"/>
                <a:cs typeface="Calibri" pitchFamily="34" charset="-120"/>
              </a:rPr>
              <a:t>Each production fee covers everything listed, including the included period. </a:t>
            </a:r>
            <a:pPr indent="0" marL="0">
              <a:buNone/>
            </a:pPr>
            <a:r>
              <a:rPr lang="en-US" sz="950" dirty="0">
                <a:solidFill>
                  <a:srgbClr val="B3ADC0"/>
                </a:solidFill>
                <a:latin typeface="Calibri" pitchFamily="34" charset="0"/>
                <a:ea typeface="Calibri" pitchFamily="34" charset="-122"/>
                <a:cs typeface="Calibri" pitchFamily="34" charset="-120"/>
              </a:rPr>
              <a:t>Monthly support is optional and starts only after that period ends. Introductory pricing reflects reuse of the existing concept film and permission to publish an approved case study. Printing, paid media, screen placement and third-party licence fees are excluded.</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From go-ahead to launch</a:t>
            </a:r>
            <a:endParaRPr lang="en-US" sz="2800" dirty="0"/>
          </a:p>
        </p:txBody>
      </p:sp>
      <p:sp>
        <p:nvSpPr>
          <p:cNvPr id="4" name="Text 2"/>
          <p:cNvSpPr txBox="1"/>
          <p:nvPr/>
        </p:nvSpPr>
        <p:spPr>
          <a:xfrm>
            <a:off x="457200" y="1024128"/>
            <a:ext cx="7863840" cy="411480"/>
          </a:xfrm>
          <a:prstGeom prst="rect">
            <a:avLst/>
          </a:prstGeom>
          <a:noFill/>
          <a:ln/>
        </p:spPr>
        <p:txBody>
          <a:bodyPr wrap="square" lIns="0" tIns="0" rIns="0" bIns="0" rtlCol="0" anchor="t"/>
          <a:lstStyle/>
          <a:p>
            <a:pPr indent="0" marL="0">
              <a:buNone/>
            </a:pPr>
            <a:r>
              <a:rPr lang="en-US" sz="1300" dirty="0">
                <a:solidFill>
                  <a:srgbClr val="B3ADC0"/>
                </a:solidFill>
                <a:latin typeface="Calibri" pitchFamily="34" charset="0"/>
                <a:ea typeface="Calibri" pitchFamily="34" charset="-122"/>
                <a:cs typeface="Calibri" pitchFamily="34" charset="-120"/>
              </a:rPr>
              <a:t>Around six weeks from go-ahead to launch, depending on approvals.</a:t>
            </a:r>
            <a:endParaRPr lang="en-US" sz="1300" dirty="0"/>
          </a:p>
        </p:txBody>
      </p:sp>
      <p:sp>
        <p:nvSpPr>
          <p:cNvPr id="5" name="Text 3"/>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13</a:t>
            </a:r>
            <a:endParaRPr lang="en-US" sz="800" dirty="0"/>
          </a:p>
        </p:txBody>
      </p:sp>
      <p:sp>
        <p:nvSpPr>
          <p:cNvPr id="6" name="Shape 4"/>
          <p:cNvSpPr/>
          <p:nvPr/>
        </p:nvSpPr>
        <p:spPr>
          <a:xfrm>
            <a:off x="457200" y="1600200"/>
            <a:ext cx="2606040" cy="457200"/>
          </a:xfrm>
          <a:prstGeom prst="chevron">
            <a:avLst/>
          </a:prstGeom>
          <a:solidFill>
            <a:srgbClr val="D9A04A"/>
          </a:solidFill>
          <a:ln w="12700">
            <a:solidFill>
              <a:srgbClr val="D9A04A"/>
            </a:solidFill>
            <a:prstDash val="solid"/>
          </a:ln>
        </p:spPr>
      </p:sp>
      <p:sp>
        <p:nvSpPr>
          <p:cNvPr id="7" name="Text 5"/>
          <p:cNvSpPr txBox="1"/>
          <p:nvPr/>
        </p:nvSpPr>
        <p:spPr>
          <a:xfrm>
            <a:off x="731520" y="1600200"/>
            <a:ext cx="2103120" cy="457200"/>
          </a:xfrm>
          <a:prstGeom prst="rect">
            <a:avLst/>
          </a:prstGeom>
          <a:noFill/>
          <a:ln/>
        </p:spPr>
        <p:txBody>
          <a:bodyPr wrap="square" lIns="0" tIns="0" rIns="0" bIns="0" rtlCol="0" anchor="ctr"/>
          <a:lstStyle/>
          <a:p>
            <a:pPr indent="0" marL="0">
              <a:buNone/>
            </a:pPr>
            <a:r>
              <a:rPr lang="en-US" sz="1000" b="1" spc="200" kern="0" dirty="0">
                <a:solidFill>
                  <a:srgbClr val="16131F"/>
                </a:solidFill>
                <a:latin typeface="Calibri" pitchFamily="34" charset="0"/>
                <a:ea typeface="Calibri" pitchFamily="34" charset="-122"/>
                <a:cs typeface="Calibri" pitchFamily="34" charset="-120"/>
              </a:rPr>
              <a:t>STAGE 1</a:t>
            </a:r>
            <a:endParaRPr lang="en-US" sz="1000" dirty="0"/>
          </a:p>
        </p:txBody>
      </p:sp>
      <p:sp>
        <p:nvSpPr>
          <p:cNvPr id="8" name="Text 6"/>
          <p:cNvSpPr txBox="1"/>
          <p:nvPr/>
        </p:nvSpPr>
        <p:spPr>
          <a:xfrm>
            <a:off x="457200" y="2240280"/>
            <a:ext cx="2606040" cy="320040"/>
          </a:xfrm>
          <a:prstGeom prst="rect">
            <a:avLst/>
          </a:prstGeom>
          <a:noFill/>
          <a:ln/>
        </p:spPr>
        <p:txBody>
          <a:bodyPr wrap="square" lIns="0" tIns="0" rIns="0" bIns="0" rtlCol="0" anchor="t"/>
          <a:lstStyle/>
          <a:p>
            <a:pPr indent="0" marL="0">
              <a:buNone/>
            </a:pPr>
            <a:r>
              <a:rPr lang="en-US" sz="1600" dirty="0">
                <a:solidFill>
                  <a:srgbClr val="F3EEE4"/>
                </a:solidFill>
                <a:latin typeface="Cambria" pitchFamily="34" charset="0"/>
                <a:ea typeface="Cambria" pitchFamily="34" charset="-122"/>
                <a:cs typeface="Cambria" pitchFamily="34" charset="-120"/>
              </a:rPr>
              <a:t>Build and approve</a:t>
            </a:r>
            <a:endParaRPr lang="en-US" sz="1600" dirty="0"/>
          </a:p>
        </p:txBody>
      </p:sp>
      <p:sp>
        <p:nvSpPr>
          <p:cNvPr id="9" name="Text 7"/>
          <p:cNvSpPr txBox="1"/>
          <p:nvPr/>
        </p:nvSpPr>
        <p:spPr>
          <a:xfrm>
            <a:off x="457200" y="2651760"/>
            <a:ext cx="2560320" cy="12801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Site walk and agreed goal</a:t>
            </a:r>
            <a:endParaRPr lang="en-US" sz="1050" dirty="0"/>
          </a:p>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Route and story adaptation</a:t>
            </a:r>
            <a:endParaRPr lang="en-US" sz="1050" dirty="0"/>
          </a:p>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Film and mobile story pages</a:t>
            </a:r>
            <a:endParaRPr lang="en-US" sz="1050" dirty="0"/>
          </a:p>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Facts, brand and rights approval</a:t>
            </a:r>
            <a:endParaRPr lang="en-US" sz="1050" dirty="0"/>
          </a:p>
        </p:txBody>
      </p:sp>
      <p:sp>
        <p:nvSpPr>
          <p:cNvPr id="10" name="Shape 8"/>
          <p:cNvSpPr/>
          <p:nvPr/>
        </p:nvSpPr>
        <p:spPr>
          <a:xfrm>
            <a:off x="3246120" y="1600200"/>
            <a:ext cx="2606040" cy="457200"/>
          </a:xfrm>
          <a:prstGeom prst="chevron">
            <a:avLst/>
          </a:prstGeom>
          <a:solidFill>
            <a:srgbClr val="2B2540"/>
          </a:solidFill>
          <a:ln w="12700">
            <a:solidFill>
              <a:srgbClr val="2B2540"/>
            </a:solidFill>
            <a:prstDash val="solid"/>
          </a:ln>
        </p:spPr>
      </p:sp>
      <p:sp>
        <p:nvSpPr>
          <p:cNvPr id="11" name="Text 9"/>
          <p:cNvSpPr txBox="1"/>
          <p:nvPr/>
        </p:nvSpPr>
        <p:spPr>
          <a:xfrm>
            <a:off x="3520440" y="1600200"/>
            <a:ext cx="2103120" cy="457200"/>
          </a:xfrm>
          <a:prstGeom prst="rect">
            <a:avLst/>
          </a:prstGeom>
          <a:noFill/>
          <a:ln/>
        </p:spPr>
        <p:txBody>
          <a:bodyPr wrap="square" lIns="0" tIns="0" rIns="0" bIns="0" rtlCol="0" anchor="ctr"/>
          <a:lstStyle/>
          <a:p>
            <a:pPr indent="0" marL="0">
              <a:buNone/>
            </a:pPr>
            <a:r>
              <a:rPr lang="en-US" sz="1000" b="1" spc="200" kern="0" dirty="0">
                <a:solidFill>
                  <a:srgbClr val="D9A04A"/>
                </a:solidFill>
                <a:latin typeface="Calibri" pitchFamily="34" charset="0"/>
                <a:ea typeface="Calibri" pitchFamily="34" charset="-122"/>
                <a:cs typeface="Calibri" pitchFamily="34" charset="-120"/>
              </a:rPr>
              <a:t>STAGE 2</a:t>
            </a:r>
            <a:endParaRPr lang="en-US" sz="1000" dirty="0"/>
          </a:p>
        </p:txBody>
      </p:sp>
      <p:sp>
        <p:nvSpPr>
          <p:cNvPr id="12" name="Text 10"/>
          <p:cNvSpPr txBox="1"/>
          <p:nvPr/>
        </p:nvSpPr>
        <p:spPr>
          <a:xfrm>
            <a:off x="3246120" y="2240280"/>
            <a:ext cx="2606040" cy="320040"/>
          </a:xfrm>
          <a:prstGeom prst="rect">
            <a:avLst/>
          </a:prstGeom>
          <a:noFill/>
          <a:ln/>
        </p:spPr>
        <p:txBody>
          <a:bodyPr wrap="square" lIns="0" tIns="0" rIns="0" bIns="0" rtlCol="0" anchor="t"/>
          <a:lstStyle/>
          <a:p>
            <a:pPr indent="0" marL="0">
              <a:buNone/>
            </a:pPr>
            <a:r>
              <a:rPr lang="en-US" sz="1600" dirty="0">
                <a:solidFill>
                  <a:srgbClr val="F3EEE4"/>
                </a:solidFill>
                <a:latin typeface="Cambria" pitchFamily="34" charset="0"/>
                <a:ea typeface="Cambria" pitchFamily="34" charset="-122"/>
                <a:cs typeface="Cambria" pitchFamily="34" charset="-120"/>
              </a:rPr>
              <a:t>Launch</a:t>
            </a:r>
            <a:endParaRPr lang="en-US" sz="1600" dirty="0"/>
          </a:p>
        </p:txBody>
      </p:sp>
      <p:sp>
        <p:nvSpPr>
          <p:cNvPr id="13" name="Text 11"/>
          <p:cNvSpPr txBox="1"/>
          <p:nvPr/>
        </p:nvSpPr>
        <p:spPr>
          <a:xfrm>
            <a:off x="3246120" y="2651760"/>
            <a:ext cx="2560320" cy="12801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QR cards on the chosen stops</a:t>
            </a:r>
            <a:endParaRPr lang="en-US" sz="1050" dirty="0"/>
          </a:p>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Short staff briefing, prepared for you</a:t>
            </a:r>
            <a:endParaRPr lang="en-US" sz="1050" dirty="0"/>
          </a:p>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Launch posts on the agreed channels</a:t>
            </a:r>
            <a:endParaRPr lang="en-US" sz="1050" dirty="0"/>
          </a:p>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Real-people filming, where included</a:t>
            </a:r>
            <a:endParaRPr lang="en-US" sz="1050" dirty="0"/>
          </a:p>
        </p:txBody>
      </p:sp>
      <p:sp>
        <p:nvSpPr>
          <p:cNvPr id="14" name="Shape 12"/>
          <p:cNvSpPr/>
          <p:nvPr/>
        </p:nvSpPr>
        <p:spPr>
          <a:xfrm>
            <a:off x="6035040" y="1600200"/>
            <a:ext cx="2606040" cy="457200"/>
          </a:xfrm>
          <a:prstGeom prst="chevron">
            <a:avLst/>
          </a:prstGeom>
          <a:solidFill>
            <a:srgbClr val="2B2540"/>
          </a:solidFill>
          <a:ln w="12700">
            <a:solidFill>
              <a:srgbClr val="2B2540"/>
            </a:solidFill>
            <a:prstDash val="solid"/>
          </a:ln>
        </p:spPr>
      </p:sp>
      <p:sp>
        <p:nvSpPr>
          <p:cNvPr id="15" name="Text 13"/>
          <p:cNvSpPr txBox="1"/>
          <p:nvPr/>
        </p:nvSpPr>
        <p:spPr>
          <a:xfrm>
            <a:off x="6309360" y="1600200"/>
            <a:ext cx="2103120" cy="457200"/>
          </a:xfrm>
          <a:prstGeom prst="rect">
            <a:avLst/>
          </a:prstGeom>
          <a:noFill/>
          <a:ln/>
        </p:spPr>
        <p:txBody>
          <a:bodyPr wrap="square" lIns="0" tIns="0" rIns="0" bIns="0" rtlCol="0" anchor="ctr"/>
          <a:lstStyle/>
          <a:p>
            <a:pPr indent="0" marL="0">
              <a:buNone/>
            </a:pPr>
            <a:r>
              <a:rPr lang="en-US" sz="1000" b="1" spc="200" kern="0" dirty="0">
                <a:solidFill>
                  <a:srgbClr val="D9A04A"/>
                </a:solidFill>
                <a:latin typeface="Calibri" pitchFamily="34" charset="0"/>
                <a:ea typeface="Calibri" pitchFamily="34" charset="-122"/>
                <a:cs typeface="Calibri" pitchFamily="34" charset="-120"/>
              </a:rPr>
              <a:t>STAGE 3</a:t>
            </a:r>
            <a:endParaRPr lang="en-US" sz="1000" dirty="0"/>
          </a:p>
        </p:txBody>
      </p:sp>
      <p:sp>
        <p:nvSpPr>
          <p:cNvPr id="16" name="Text 14"/>
          <p:cNvSpPr txBox="1"/>
          <p:nvPr/>
        </p:nvSpPr>
        <p:spPr>
          <a:xfrm>
            <a:off x="6035040" y="2240280"/>
            <a:ext cx="2606040" cy="320040"/>
          </a:xfrm>
          <a:prstGeom prst="rect">
            <a:avLst/>
          </a:prstGeom>
          <a:noFill/>
          <a:ln/>
        </p:spPr>
        <p:txBody>
          <a:bodyPr wrap="square" lIns="0" tIns="0" rIns="0" bIns="0" rtlCol="0" anchor="t"/>
          <a:lstStyle/>
          <a:p>
            <a:pPr indent="0" marL="0">
              <a:buNone/>
            </a:pPr>
            <a:r>
              <a:rPr lang="en-US" sz="1600" dirty="0">
                <a:solidFill>
                  <a:srgbClr val="F3EEE4"/>
                </a:solidFill>
                <a:latin typeface="Cambria" pitchFamily="34" charset="0"/>
                <a:ea typeface="Cambria" pitchFamily="34" charset="-122"/>
                <a:cs typeface="Cambria" pitchFamily="34" charset="-120"/>
              </a:rPr>
              <a:t>Measure and decide</a:t>
            </a:r>
            <a:endParaRPr lang="en-US" sz="1600" dirty="0"/>
          </a:p>
        </p:txBody>
      </p:sp>
      <p:sp>
        <p:nvSpPr>
          <p:cNvPr id="17" name="Text 15"/>
          <p:cNvSpPr txBox="1"/>
          <p:nvPr/>
        </p:nvSpPr>
        <p:spPr>
          <a:xfrm>
            <a:off x="6035040" y="2651760"/>
            <a:ext cx="2560320" cy="12801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Results against an agreed baseline</a:t>
            </a:r>
            <a:endParaRPr lang="en-US" sz="1050" dirty="0"/>
          </a:p>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What to keep, change or extend</a:t>
            </a:r>
            <a:endParaRPr lang="en-US" sz="1050" dirty="0"/>
          </a:p>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Seasonal reuse of approved content</a:t>
            </a:r>
            <a:endParaRPr lang="en-US" sz="1050" dirty="0"/>
          </a:p>
          <a:p>
            <a:pPr marL="152400" indent="-152400">
              <a:spcAft>
                <a:spcPts val="500"/>
              </a:spcAft>
              <a:buSzPct val="100000"/>
              <a:buChar char="•"/>
            </a:pPr>
            <a:r>
              <a:rPr lang="en-US" sz="1050" dirty="0">
                <a:solidFill>
                  <a:srgbClr val="B3ADC0"/>
                </a:solidFill>
                <a:latin typeface="Calibri" pitchFamily="34" charset="0"/>
                <a:ea typeface="Calibri" pitchFamily="34" charset="-122"/>
                <a:cs typeface="Calibri" pitchFamily="34" charset="-120"/>
              </a:rPr>
              <a:t>Recommendation for the next story</a:t>
            </a:r>
            <a:endParaRPr lang="en-US" sz="1050" dirty="0"/>
          </a:p>
        </p:txBody>
      </p:sp>
      <p:sp>
        <p:nvSpPr>
          <p:cNvPr id="18" name="Shape 16"/>
          <p:cNvSpPr/>
          <p:nvPr/>
        </p:nvSpPr>
        <p:spPr>
          <a:xfrm>
            <a:off x="457200" y="4069080"/>
            <a:ext cx="8229600" cy="640080"/>
          </a:xfrm>
          <a:prstGeom prst="roundRect">
            <a:avLst>
              <a:gd name="adj" fmla="val 11429"/>
            </a:avLst>
          </a:prstGeom>
          <a:solidFill>
            <a:srgbClr val="221D2F"/>
          </a:solidFill>
          <a:ln w="12700">
            <a:solidFill>
              <a:srgbClr val="221D2F"/>
            </a:solidFill>
            <a:prstDash val="solid"/>
          </a:ln>
        </p:spPr>
      </p:sp>
      <p:sp>
        <p:nvSpPr>
          <p:cNvPr id="19" name="Text 17"/>
          <p:cNvSpPr txBox="1"/>
          <p:nvPr/>
        </p:nvSpPr>
        <p:spPr>
          <a:xfrm>
            <a:off x="640080" y="4114800"/>
            <a:ext cx="7863840" cy="548640"/>
          </a:xfrm>
          <a:prstGeom prst="rect">
            <a:avLst/>
          </a:prstGeom>
          <a:noFill/>
          <a:ln/>
        </p:spPr>
        <p:txBody>
          <a:bodyPr wrap="square" lIns="0" tIns="0" rIns="0" bIns="0" rtlCol="0" anchor="ctr"/>
          <a:lstStyle/>
          <a:p>
            <a:pPr indent="0" marL="0">
              <a:buNone/>
            </a:pPr>
            <a:r>
              <a:rPr lang="en-US" sz="1100" b="1" dirty="0">
                <a:solidFill>
                  <a:srgbClr val="D9A04A"/>
                </a:solidFill>
                <a:latin typeface="Calibri" pitchFamily="34" charset="0"/>
                <a:ea typeface="Calibri" pitchFamily="34" charset="-122"/>
                <a:cs typeface="Calibri" pitchFamily="34" charset="-120"/>
              </a:rPr>
              <a:t>Launch window. </a:t>
            </a:r>
            <a:pPr indent="0" marL="0">
              <a:buNone/>
            </a:pPr>
            <a:r>
              <a:rPr lang="en-US" sz="1100" dirty="0">
                <a:solidFill>
                  <a:srgbClr val="F3EEE4"/>
                </a:solidFill>
                <a:latin typeface="Calibri" pitchFamily="34" charset="0"/>
                <a:ea typeface="Calibri" pitchFamily="34" charset="-122"/>
                <a:cs typeface="Calibri" pitchFamily="34" charset="-120"/>
              </a:rPr>
              <a:t>A go-ahead at the 24 September meeting points to a full launch in early November, ready for darker evenings and Christmas gifting. An earlier half-term teaser using the existing concept film is possible if partners approve it in time.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Who does what</a:t>
            </a:r>
            <a:endParaRPr lang="en-US" sz="2800" dirty="0"/>
          </a:p>
        </p:txBody>
      </p:sp>
      <p:sp>
        <p:nvSpPr>
          <p:cNvPr id="4" name="Text 2"/>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14</a:t>
            </a:r>
            <a:endParaRPr lang="en-US" sz="800" dirty="0"/>
          </a:p>
        </p:txBody>
      </p:sp>
      <p:sp>
        <p:nvSpPr>
          <p:cNvPr id="5" name="Shape 3"/>
          <p:cNvSpPr/>
          <p:nvPr/>
        </p:nvSpPr>
        <p:spPr>
          <a:xfrm>
            <a:off x="457200" y="1188720"/>
            <a:ext cx="3931920" cy="3520440"/>
          </a:xfrm>
          <a:prstGeom prst="roundRect">
            <a:avLst>
              <a:gd name="adj" fmla="val 2078"/>
            </a:avLst>
          </a:prstGeom>
          <a:solidFill>
            <a:srgbClr val="2B2540"/>
          </a:solidFill>
          <a:ln w="12700">
            <a:solidFill>
              <a:srgbClr val="2B2540"/>
            </a:solidFill>
            <a:prstDash val="solid"/>
          </a:ln>
        </p:spPr>
      </p:sp>
      <p:sp>
        <p:nvSpPr>
          <p:cNvPr id="6" name="Text 4"/>
          <p:cNvSpPr txBox="1"/>
          <p:nvPr/>
        </p:nvSpPr>
        <p:spPr>
          <a:xfrm>
            <a:off x="640080" y="1325880"/>
            <a:ext cx="3566160" cy="320040"/>
          </a:xfrm>
          <a:prstGeom prst="rect">
            <a:avLst/>
          </a:prstGeom>
          <a:noFill/>
          <a:ln/>
        </p:spPr>
        <p:txBody>
          <a:bodyPr wrap="square" lIns="0" tIns="0" rIns="0" bIns="0" rtlCol="0" anchor="t"/>
          <a:lstStyle/>
          <a:p>
            <a:pPr indent="0" marL="0">
              <a:buNone/>
            </a:pPr>
            <a:r>
              <a:rPr lang="en-US" sz="1600" dirty="0">
                <a:solidFill>
                  <a:srgbClr val="D9A04A"/>
                </a:solidFill>
                <a:latin typeface="Cambria" pitchFamily="34" charset="0"/>
                <a:ea typeface="Cambria" pitchFamily="34" charset="-122"/>
                <a:cs typeface="Cambria" pitchFamily="34" charset="-120"/>
              </a:rPr>
              <a:t>What we’d ask of the farm</a:t>
            </a:r>
            <a:endParaRPr lang="en-US" sz="1600" dirty="0"/>
          </a:p>
        </p:txBody>
      </p:sp>
      <p:sp>
        <p:nvSpPr>
          <p:cNvPr id="7" name="Text 5"/>
          <p:cNvSpPr txBox="1"/>
          <p:nvPr/>
        </p:nvSpPr>
        <p:spPr>
          <a:xfrm>
            <a:off x="640080" y="1828800"/>
            <a:ext cx="3611880" cy="2743200"/>
          </a:xfrm>
          <a:prstGeom prst="rect">
            <a:avLst/>
          </a:prstGeom>
          <a:noFill/>
          <a:ln/>
        </p:spPr>
        <p:txBody>
          <a:bodyPr wrap="square" lIns="0" tIns="0" rIns="0" bIns="0" rtlCol="0" anchor="t"/>
          <a:lstStyle/>
          <a:p>
            <a:pPr marL="152400" indent="-152400">
              <a:spcAft>
                <a:spcPts val="1100"/>
              </a:spcAft>
              <a:buSzPct val="100000"/>
              <a:buChar char="•"/>
            </a:pPr>
            <a:r>
              <a:rPr lang="en-US" sz="1300" dirty="0">
                <a:solidFill>
                  <a:srgbClr val="F3EEE4"/>
                </a:solidFill>
                <a:latin typeface="Calibri" pitchFamily="34" charset="0"/>
                <a:ea typeface="Calibri" pitchFamily="34" charset="-122"/>
                <a:cs typeface="Calibri" pitchFamily="34" charset="-120"/>
              </a:rPr>
              <a:t>A site walk and one named contact</a:t>
            </a:r>
            <a:endParaRPr lang="en-US" sz="1300" dirty="0"/>
          </a:p>
          <a:p>
            <a:pPr marL="152400" indent="-152400">
              <a:spcAft>
                <a:spcPts val="1100"/>
              </a:spcAft>
              <a:buSzPct val="100000"/>
              <a:buChar char="•"/>
            </a:pPr>
            <a:r>
              <a:rPr lang="en-US" sz="1300" dirty="0">
                <a:solidFill>
                  <a:srgbClr val="F3EEE4"/>
                </a:solidFill>
                <a:latin typeface="Calibri" pitchFamily="34" charset="0"/>
                <a:ea typeface="Calibri" pitchFamily="34" charset="-122"/>
                <a:cs typeface="Calibri" pitchFamily="34" charset="-120"/>
              </a:rPr>
              <a:t>Your choice of stops, facts and products</a:t>
            </a:r>
            <a:endParaRPr lang="en-US" sz="1300" dirty="0"/>
          </a:p>
          <a:p>
            <a:pPr marL="152400" indent="-152400">
              <a:spcAft>
                <a:spcPts val="1100"/>
              </a:spcAft>
              <a:buSzPct val="100000"/>
              <a:buChar char="•"/>
            </a:pPr>
            <a:r>
              <a:rPr lang="en-US" sz="1300" dirty="0">
                <a:solidFill>
                  <a:srgbClr val="F3EEE4"/>
                </a:solidFill>
                <a:latin typeface="Calibri" pitchFamily="34" charset="0"/>
                <a:ea typeface="Calibri" pitchFamily="34" charset="-122"/>
                <a:cs typeface="Calibri" pitchFamily="34" charset="-120"/>
              </a:rPr>
              <a:t>A short staff briefing (we prepare it)</a:t>
            </a:r>
            <a:endParaRPr lang="en-US" sz="1300" dirty="0"/>
          </a:p>
          <a:p>
            <a:pPr marL="152400" indent="-152400">
              <a:spcAft>
                <a:spcPts val="1100"/>
              </a:spcAft>
              <a:buSzPct val="100000"/>
              <a:buChar char="•"/>
            </a:pPr>
            <a:r>
              <a:rPr lang="en-US" sz="1300" dirty="0">
                <a:solidFill>
                  <a:srgbClr val="F3EEE4"/>
                </a:solidFill>
                <a:latin typeface="Calibri" pitchFamily="34" charset="0"/>
                <a:ea typeface="Calibri" pitchFamily="34" charset="-122"/>
                <a:cs typeface="Calibri" pitchFamily="34" charset="-120"/>
              </a:rPr>
              <a:t>Space for small QR cards on existing routes</a:t>
            </a:r>
            <a:endParaRPr lang="en-US" sz="1300" dirty="0"/>
          </a:p>
          <a:p>
            <a:pPr marL="152400" indent="-152400">
              <a:spcAft>
                <a:spcPts val="1100"/>
              </a:spcAft>
              <a:buSzPct val="100000"/>
              <a:buChar char="•"/>
            </a:pPr>
            <a:r>
              <a:rPr lang="en-US" sz="1300" dirty="0">
                <a:solidFill>
                  <a:srgbClr val="F3EEE4"/>
                </a:solidFill>
                <a:latin typeface="Calibri" pitchFamily="34" charset="0"/>
                <a:ea typeface="Calibri" pitchFamily="34" charset="-122"/>
                <a:cs typeface="Calibri" pitchFamily="34" charset="-120"/>
              </a:rPr>
              <a:t>Approval before anything is published</a:t>
            </a:r>
            <a:endParaRPr lang="en-US" sz="1300" dirty="0"/>
          </a:p>
          <a:p>
            <a:pPr marL="152400" indent="-152400">
              <a:spcAft>
                <a:spcPts val="1100"/>
              </a:spcAft>
              <a:buSzPct val="100000"/>
              <a:buChar char="•"/>
            </a:pPr>
            <a:r>
              <a:rPr lang="en-US" sz="1300" dirty="0">
                <a:solidFill>
                  <a:srgbClr val="F3EEE4"/>
                </a:solidFill>
                <a:latin typeface="Calibri" pitchFamily="34" charset="0"/>
                <a:ea typeface="Calibri" pitchFamily="34" charset="-122"/>
                <a:cs typeface="Calibri" pitchFamily="34" charset="-120"/>
              </a:rPr>
              <a:t>Sharing selected posts on your channels</a:t>
            </a:r>
            <a:endParaRPr lang="en-US" sz="1300" dirty="0"/>
          </a:p>
        </p:txBody>
      </p:sp>
      <p:sp>
        <p:nvSpPr>
          <p:cNvPr id="8" name="Shape 6"/>
          <p:cNvSpPr/>
          <p:nvPr/>
        </p:nvSpPr>
        <p:spPr>
          <a:xfrm>
            <a:off x="4663440" y="1188720"/>
            <a:ext cx="4023360" cy="777240"/>
          </a:xfrm>
          <a:prstGeom prst="roundRect">
            <a:avLst>
              <a:gd name="adj" fmla="val 9412"/>
            </a:avLst>
          </a:prstGeom>
          <a:solidFill>
            <a:srgbClr val="221D2F"/>
          </a:solidFill>
          <a:ln w="12700">
            <a:solidFill>
              <a:srgbClr val="221D2F"/>
            </a:solidFill>
            <a:prstDash val="solid"/>
          </a:ln>
        </p:spPr>
      </p:sp>
      <p:sp>
        <p:nvSpPr>
          <p:cNvPr id="9" name="Text 7"/>
          <p:cNvSpPr txBox="1"/>
          <p:nvPr/>
        </p:nvSpPr>
        <p:spPr>
          <a:xfrm>
            <a:off x="4846320" y="1280160"/>
            <a:ext cx="3657600" cy="274320"/>
          </a:xfrm>
          <a:prstGeom prst="rect">
            <a:avLst/>
          </a:prstGeom>
          <a:noFill/>
          <a:ln/>
        </p:spPr>
        <p:txBody>
          <a:bodyPr wrap="square" lIns="0" tIns="0" rIns="0" bIns="0" rtlCol="0" anchor="t"/>
          <a:lstStyle/>
          <a:p>
            <a:pPr indent="0" marL="0">
              <a:buNone/>
            </a:pPr>
            <a:r>
              <a:rPr lang="en-US" sz="1250" b="1" dirty="0">
                <a:solidFill>
                  <a:srgbClr val="D9A04A"/>
                </a:solidFill>
                <a:latin typeface="Calibri" pitchFamily="34" charset="0"/>
                <a:ea typeface="Calibri" pitchFamily="34" charset="-122"/>
                <a:cs typeface="Calibri" pitchFamily="34" charset="-120"/>
              </a:rPr>
              <a:t>The Garlic Farm</a:t>
            </a:r>
            <a:endParaRPr lang="en-US" sz="1250" dirty="0"/>
          </a:p>
        </p:txBody>
      </p:sp>
      <p:sp>
        <p:nvSpPr>
          <p:cNvPr id="10" name="Text 8"/>
          <p:cNvSpPr txBox="1"/>
          <p:nvPr/>
        </p:nvSpPr>
        <p:spPr>
          <a:xfrm>
            <a:off x="4846320" y="1572768"/>
            <a:ext cx="3657600" cy="36576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Visitor priorities, route, facts, products and brand approval</a:t>
            </a:r>
            <a:endParaRPr lang="en-US" sz="1050" dirty="0"/>
          </a:p>
        </p:txBody>
      </p:sp>
      <p:sp>
        <p:nvSpPr>
          <p:cNvPr id="11" name="Shape 9"/>
          <p:cNvSpPr/>
          <p:nvPr/>
        </p:nvSpPr>
        <p:spPr>
          <a:xfrm>
            <a:off x="4663440" y="2084832"/>
            <a:ext cx="4023360" cy="777240"/>
          </a:xfrm>
          <a:prstGeom prst="roundRect">
            <a:avLst>
              <a:gd name="adj" fmla="val 9412"/>
            </a:avLst>
          </a:prstGeom>
          <a:solidFill>
            <a:srgbClr val="221D2F"/>
          </a:solidFill>
          <a:ln w="12700">
            <a:solidFill>
              <a:srgbClr val="221D2F"/>
            </a:solidFill>
            <a:prstDash val="solid"/>
          </a:ln>
        </p:spPr>
      </p:sp>
      <p:sp>
        <p:nvSpPr>
          <p:cNvPr id="12" name="Text 10"/>
          <p:cNvSpPr txBox="1"/>
          <p:nvPr/>
        </p:nvSpPr>
        <p:spPr>
          <a:xfrm>
            <a:off x="4846320" y="2176272"/>
            <a:ext cx="3657600" cy="274320"/>
          </a:xfrm>
          <a:prstGeom prst="rect">
            <a:avLst/>
          </a:prstGeom>
          <a:noFill/>
          <a:ln/>
        </p:spPr>
        <p:txBody>
          <a:bodyPr wrap="square" lIns="0" tIns="0" rIns="0" bIns="0" rtlCol="0" anchor="t"/>
          <a:lstStyle/>
          <a:p>
            <a:pPr indent="0" marL="0">
              <a:buNone/>
            </a:pPr>
            <a:r>
              <a:rPr lang="en-US" sz="1250" b="1" dirty="0">
                <a:solidFill>
                  <a:srgbClr val="D9A04A"/>
                </a:solidFill>
                <a:latin typeface="Calibri" pitchFamily="34" charset="0"/>
                <a:ea typeface="Calibri" pitchFamily="34" charset="-122"/>
                <a:cs typeface="Calibri" pitchFamily="34" charset="-120"/>
              </a:rPr>
              <a:t>Peter J Murray</a:t>
            </a:r>
            <a:endParaRPr lang="en-US" sz="1250" dirty="0"/>
          </a:p>
        </p:txBody>
      </p:sp>
      <p:sp>
        <p:nvSpPr>
          <p:cNvPr id="13" name="Text 11"/>
          <p:cNvSpPr txBox="1"/>
          <p:nvPr/>
        </p:nvSpPr>
        <p:spPr>
          <a:xfrm>
            <a:off x="4846320" y="2468880"/>
            <a:ext cx="3657600" cy="36576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Story, character and adaptation approval</a:t>
            </a:r>
            <a:endParaRPr lang="en-US" sz="1050" dirty="0"/>
          </a:p>
        </p:txBody>
      </p:sp>
      <p:sp>
        <p:nvSpPr>
          <p:cNvPr id="14" name="Shape 12"/>
          <p:cNvSpPr/>
          <p:nvPr/>
        </p:nvSpPr>
        <p:spPr>
          <a:xfrm>
            <a:off x="4663440" y="2980944"/>
            <a:ext cx="4023360" cy="777240"/>
          </a:xfrm>
          <a:prstGeom prst="roundRect">
            <a:avLst>
              <a:gd name="adj" fmla="val 9412"/>
            </a:avLst>
          </a:prstGeom>
          <a:solidFill>
            <a:srgbClr val="221D2F"/>
          </a:solidFill>
          <a:ln w="12700">
            <a:solidFill>
              <a:srgbClr val="221D2F"/>
            </a:solidFill>
            <a:prstDash val="solid"/>
          </a:ln>
        </p:spPr>
      </p:sp>
      <p:sp>
        <p:nvSpPr>
          <p:cNvPr id="15" name="Text 13"/>
          <p:cNvSpPr txBox="1"/>
          <p:nvPr/>
        </p:nvSpPr>
        <p:spPr>
          <a:xfrm>
            <a:off x="4846320" y="3072384"/>
            <a:ext cx="3657600" cy="274320"/>
          </a:xfrm>
          <a:prstGeom prst="rect">
            <a:avLst/>
          </a:prstGeom>
          <a:noFill/>
          <a:ln/>
        </p:spPr>
        <p:txBody>
          <a:bodyPr wrap="square" lIns="0" tIns="0" rIns="0" bIns="0" rtlCol="0" anchor="t"/>
          <a:lstStyle/>
          <a:p>
            <a:pPr indent="0" marL="0">
              <a:buNone/>
            </a:pPr>
            <a:r>
              <a:rPr lang="en-US" sz="1250" b="1" dirty="0">
                <a:solidFill>
                  <a:srgbClr val="D9A04A"/>
                </a:solidFill>
                <a:latin typeface="Calibri" pitchFamily="34" charset="0"/>
                <a:ea typeface="Calibri" pitchFamily="34" charset="-122"/>
                <a:cs typeface="Calibri" pitchFamily="34" charset="-120"/>
              </a:rPr>
              <a:t>Medina Publishing · Simon Harrop</a:t>
            </a:r>
            <a:endParaRPr lang="en-US" sz="1250" dirty="0"/>
          </a:p>
        </p:txBody>
      </p:sp>
      <p:sp>
        <p:nvSpPr>
          <p:cNvPr id="16" name="Text 14"/>
          <p:cNvSpPr txBox="1"/>
          <p:nvPr/>
        </p:nvSpPr>
        <p:spPr>
          <a:xfrm>
            <a:off x="4846320" y="3364992"/>
            <a:ext cx="3657600" cy="36576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Partnership, publishing permissions and book sales</a:t>
            </a:r>
            <a:endParaRPr lang="en-US" sz="1050" dirty="0"/>
          </a:p>
        </p:txBody>
      </p:sp>
      <p:sp>
        <p:nvSpPr>
          <p:cNvPr id="17" name="Shape 15"/>
          <p:cNvSpPr/>
          <p:nvPr/>
        </p:nvSpPr>
        <p:spPr>
          <a:xfrm>
            <a:off x="4663440" y="3877056"/>
            <a:ext cx="4023360" cy="777240"/>
          </a:xfrm>
          <a:prstGeom prst="roundRect">
            <a:avLst>
              <a:gd name="adj" fmla="val 9412"/>
            </a:avLst>
          </a:prstGeom>
          <a:solidFill>
            <a:srgbClr val="221D2F"/>
          </a:solidFill>
          <a:ln w="12700">
            <a:solidFill>
              <a:srgbClr val="221D2F"/>
            </a:solidFill>
            <a:prstDash val="solid"/>
          </a:ln>
        </p:spPr>
      </p:sp>
      <p:sp>
        <p:nvSpPr>
          <p:cNvPr id="18" name="Text 16"/>
          <p:cNvSpPr txBox="1"/>
          <p:nvPr/>
        </p:nvSpPr>
        <p:spPr>
          <a:xfrm>
            <a:off x="4846320" y="3968496"/>
            <a:ext cx="3657600" cy="274320"/>
          </a:xfrm>
          <a:prstGeom prst="rect">
            <a:avLst/>
          </a:prstGeom>
          <a:noFill/>
          <a:ln/>
        </p:spPr>
        <p:txBody>
          <a:bodyPr wrap="square" lIns="0" tIns="0" rIns="0" bIns="0" rtlCol="0" anchor="t"/>
          <a:lstStyle/>
          <a:p>
            <a:pPr indent="0" marL="0">
              <a:buNone/>
            </a:pPr>
            <a:r>
              <a:rPr lang="en-US" sz="1250" b="1" dirty="0">
                <a:solidFill>
                  <a:srgbClr val="D9A04A"/>
                </a:solidFill>
                <a:latin typeface="Calibri" pitchFamily="34" charset="0"/>
                <a:ea typeface="Calibri" pitchFamily="34" charset="-122"/>
                <a:cs typeface="Calibri" pitchFamily="34" charset="-120"/>
              </a:rPr>
              <a:t>IsleConnect · David Grannum</a:t>
            </a:r>
            <a:endParaRPr lang="en-US" sz="1250" dirty="0"/>
          </a:p>
        </p:txBody>
      </p:sp>
      <p:sp>
        <p:nvSpPr>
          <p:cNvPr id="19" name="Text 17"/>
          <p:cNvSpPr txBox="1"/>
          <p:nvPr/>
        </p:nvSpPr>
        <p:spPr>
          <a:xfrm>
            <a:off x="4846320" y="4261104"/>
            <a:ext cx="3657600" cy="365760"/>
          </a:xfrm>
          <a:prstGeom prst="rect">
            <a:avLst/>
          </a:prstGeom>
          <a:noFill/>
          <a:ln/>
        </p:spPr>
        <p:txBody>
          <a:bodyPr wrap="square" lIns="0" tIns="0" rIns="0" bIns="0" rtlCol="0" anchor="t"/>
          <a:lstStyle/>
          <a:p>
            <a:pPr indent="0" marL="0">
              <a:buNone/>
            </a:pPr>
            <a:r>
              <a:rPr lang="en-US" sz="1050" dirty="0">
                <a:solidFill>
                  <a:srgbClr val="B3ADC0"/>
                </a:solidFill>
                <a:latin typeface="Calibri" pitchFamily="34" charset="0"/>
                <a:ea typeface="Calibri" pitchFamily="34" charset="-122"/>
                <a:cs typeface="Calibri" pitchFamily="34" charset="-120"/>
              </a:rPr>
              <a:t>Experience design, production, campaign, measurement and reporting</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31F"/>
        </a:solidFill>
      </p:bgPr>
    </p:bg>
    <p:spTree>
      <p:nvGrpSpPr>
        <p:cNvPr id="1" name=""/>
        <p:cNvGrpSpPr/>
        <p:nvPr/>
      </p:nvGrpSpPr>
      <p:grpSpPr>
        <a:xfrm>
          <a:off x="0" y="0"/>
          <a:ext cx="0" cy="0"/>
          <a:chOff x="0" y="0"/>
          <a:chExt cx="0" cy="0"/>
        </a:xfrm>
      </p:grpSpPr>
      <p:sp>
        <p:nvSpPr>
          <p:cNvPr id="2" name="Text 0"/>
          <p:cNvSpPr txBox="1"/>
          <p:nvPr/>
        </p:nvSpPr>
        <p:spPr>
          <a:xfrm>
            <a:off x="457200" y="256032"/>
            <a:ext cx="6400800" cy="228600"/>
          </a:xfrm>
          <a:prstGeom prst="rect">
            <a:avLst/>
          </a:prstGeom>
          <a:noFill/>
          <a:ln/>
        </p:spPr>
        <p:txBody>
          <a:bodyPr wrap="square" lIns="0" tIns="0" rIns="0" bIns="0" rtlCol="0" anchor="ctr"/>
          <a:lstStyle/>
          <a:p>
            <a:pPr indent="0" marL="0">
              <a:buNone/>
            </a:pPr>
            <a:r>
              <a:rPr lang="en-US" sz="800" b="1" spc="200" kern="0" dirty="0">
                <a:solidFill>
                  <a:srgbClr val="D9A04A"/>
                </a:solidFill>
                <a:latin typeface="Calibri" pitchFamily="34" charset="0"/>
                <a:ea typeface="Calibri" pitchFamily="34" charset="-122"/>
                <a:cs typeface="Calibri" pitchFamily="34" charset="-120"/>
              </a:rPr>
              <a:t>THE DARKER SIDE OF WIGHT × THE GARLIC FARM</a:t>
            </a:r>
            <a:endParaRPr lang="en-US" sz="800" dirty="0"/>
          </a:p>
        </p:txBody>
      </p:sp>
      <p:sp>
        <p:nvSpPr>
          <p:cNvPr id="3" name="Text 1"/>
          <p:cNvSpPr txBox="1"/>
          <p:nvPr/>
        </p:nvSpPr>
        <p:spPr>
          <a:xfrm>
            <a:off x="457200" y="475488"/>
            <a:ext cx="8229600" cy="548640"/>
          </a:xfrm>
          <a:prstGeom prst="rect">
            <a:avLst/>
          </a:prstGeom>
          <a:noFill/>
          <a:ln/>
        </p:spPr>
        <p:txBody>
          <a:bodyPr wrap="square" lIns="0" tIns="0" rIns="0" bIns="0" rtlCol="0" anchor="ctr"/>
          <a:lstStyle/>
          <a:p>
            <a:pPr indent="0" marL="0">
              <a:buNone/>
            </a:pPr>
            <a:r>
              <a:rPr lang="en-US" sz="2800" dirty="0">
                <a:solidFill>
                  <a:srgbClr val="F3EEE4"/>
                </a:solidFill>
                <a:latin typeface="Cambria" pitchFamily="34" charset="0"/>
                <a:ea typeface="Cambria" pitchFamily="34" charset="-122"/>
                <a:cs typeface="Cambria" pitchFamily="34" charset="-120"/>
              </a:rPr>
              <a:t>The next step: a walk round the farm</a:t>
            </a:r>
            <a:endParaRPr lang="en-US" sz="2800" dirty="0"/>
          </a:p>
        </p:txBody>
      </p:sp>
      <p:sp>
        <p:nvSpPr>
          <p:cNvPr id="4" name="Text 2"/>
          <p:cNvSpPr txBox="1"/>
          <p:nvPr/>
        </p:nvSpPr>
        <p:spPr>
          <a:xfrm>
            <a:off x="8321040" y="4800600"/>
            <a:ext cx="365760" cy="182880"/>
          </a:xfrm>
          <a:prstGeom prst="rect">
            <a:avLst/>
          </a:prstGeom>
          <a:noFill/>
          <a:ln/>
        </p:spPr>
        <p:txBody>
          <a:bodyPr wrap="square" lIns="0" tIns="0" rIns="0" bIns="0" rtlCol="0" anchor="ctr"/>
          <a:lstStyle/>
          <a:p>
            <a:pPr algn="r" indent="0" marL="0">
              <a:buNone/>
            </a:pPr>
            <a:r>
              <a:rPr lang="en-US" sz="800" dirty="0">
                <a:solidFill>
                  <a:srgbClr val="B3ADC0"/>
                </a:solidFill>
                <a:latin typeface="Calibri" pitchFamily="34" charset="0"/>
                <a:ea typeface="Calibri" pitchFamily="34" charset="-122"/>
                <a:cs typeface="Calibri" pitchFamily="34" charset="-120"/>
              </a:rPr>
              <a:t>15</a:t>
            </a:r>
            <a:endParaRPr lang="en-US" sz="800" dirty="0"/>
          </a:p>
        </p:txBody>
      </p:sp>
      <p:pic>
        <p:nvPicPr>
          <p:cNvPr id="5" name="Image 0" descr="/tmp/claude-0/-home-claude/44c6354d-2ed6-549b-8a9d-d752d4a7ab5e/scratchpad/build/img/c_tree_tall.jpg">    </p:cNvPr>
          <p:cNvPicPr>
            <a:picLocks noChangeAspect="1"/>
          </p:cNvPicPr>
          <p:nvPr/>
        </p:nvPicPr>
        <p:blipFill>
          <a:blip r:embed="rId1"/>
          <a:stretch>
            <a:fillRect/>
          </a:stretch>
        </p:blipFill>
        <p:spPr>
          <a:xfrm>
            <a:off x="6035040" y="0"/>
            <a:ext cx="3108960" cy="5143500"/>
          </a:xfrm>
          <a:prstGeom prst="rect">
            <a:avLst/>
          </a:prstGeom>
        </p:spPr>
      </p:pic>
      <p:sp>
        <p:nvSpPr>
          <p:cNvPr id="6" name="Text 3"/>
          <p:cNvSpPr txBox="1"/>
          <p:nvPr/>
        </p:nvSpPr>
        <p:spPr>
          <a:xfrm>
            <a:off x="457200" y="1143000"/>
            <a:ext cx="5303520" cy="502920"/>
          </a:xfrm>
          <a:prstGeom prst="rect">
            <a:avLst/>
          </a:prstGeom>
          <a:noFill/>
          <a:ln/>
        </p:spPr>
        <p:txBody>
          <a:bodyPr wrap="square" lIns="0" tIns="0" rIns="0" bIns="0" rtlCol="0" anchor="t"/>
          <a:lstStyle/>
          <a:p>
            <a:pPr indent="0" marL="0">
              <a:buNone/>
            </a:pPr>
            <a:r>
              <a:rPr lang="en-US" sz="1250" dirty="0">
                <a:solidFill>
                  <a:srgbClr val="B3ADC0"/>
                </a:solidFill>
                <a:latin typeface="Calibri" pitchFamily="34" charset="0"/>
                <a:ea typeface="Calibri" pitchFamily="34" charset="-122"/>
                <a:cs typeface="Calibri" pitchFamily="34" charset="-120"/>
              </a:rPr>
              <a:t>A short site walk answers four questions, and then IsleConnect issues one fixed-scope proposal and price.</a:t>
            </a:r>
            <a:endParaRPr lang="en-US" sz="1250" dirty="0"/>
          </a:p>
        </p:txBody>
      </p:sp>
      <p:sp>
        <p:nvSpPr>
          <p:cNvPr id="7" name="Shape 4"/>
          <p:cNvSpPr/>
          <p:nvPr/>
        </p:nvSpPr>
        <p:spPr>
          <a:xfrm>
            <a:off x="457200" y="1783080"/>
            <a:ext cx="2560320" cy="896112"/>
          </a:xfrm>
          <a:prstGeom prst="roundRect">
            <a:avLst>
              <a:gd name="adj" fmla="val 8163"/>
            </a:avLst>
          </a:prstGeom>
          <a:solidFill>
            <a:srgbClr val="221D2F"/>
          </a:solidFill>
          <a:ln w="12700">
            <a:solidFill>
              <a:srgbClr val="221D2F"/>
            </a:solidFill>
            <a:prstDash val="solid"/>
          </a:ln>
        </p:spPr>
      </p:sp>
      <p:sp>
        <p:nvSpPr>
          <p:cNvPr id="8" name="Text 5"/>
          <p:cNvSpPr txBox="1"/>
          <p:nvPr/>
        </p:nvSpPr>
        <p:spPr>
          <a:xfrm>
            <a:off x="621792" y="1874520"/>
            <a:ext cx="2286000" cy="256032"/>
          </a:xfrm>
          <a:prstGeom prst="rect">
            <a:avLst/>
          </a:prstGeom>
          <a:noFill/>
          <a:ln/>
        </p:spPr>
        <p:txBody>
          <a:bodyPr wrap="square" lIns="0" tIns="0" rIns="0" bIns="0" rtlCol="0" anchor="t"/>
          <a:lstStyle/>
          <a:p>
            <a:pPr indent="0" marL="0">
              <a:buNone/>
            </a:pPr>
            <a:r>
              <a:rPr lang="en-US" sz="1200" b="1" dirty="0">
                <a:solidFill>
                  <a:srgbClr val="D9A04A"/>
                </a:solidFill>
                <a:latin typeface="Calibri" pitchFamily="34" charset="0"/>
                <a:ea typeface="Calibri" pitchFamily="34" charset="-122"/>
                <a:cs typeface="Calibri" pitchFamily="34" charset="-120"/>
              </a:rPr>
              <a:t>Audience</a:t>
            </a:r>
            <a:endParaRPr lang="en-US" sz="1200" dirty="0"/>
          </a:p>
        </p:txBody>
      </p:sp>
      <p:sp>
        <p:nvSpPr>
          <p:cNvPr id="9" name="Text 6"/>
          <p:cNvSpPr txBox="1"/>
          <p:nvPr/>
        </p:nvSpPr>
        <p:spPr>
          <a:xfrm>
            <a:off x="621792" y="2148840"/>
            <a:ext cx="2286000" cy="475488"/>
          </a:xfrm>
          <a:prstGeom prst="rect">
            <a:avLst/>
          </a:prstGeom>
          <a:noFill/>
          <a:ln/>
        </p:spPr>
        <p:txBody>
          <a:bodyPr wrap="square" lIns="0" tIns="0" rIns="0" bIns="0" rtlCol="0" anchor="t"/>
          <a:lstStyle/>
          <a:p>
            <a:pPr indent="0" marL="0">
              <a:buNone/>
            </a:pPr>
            <a:r>
              <a:rPr lang="en-US" sz="1050" dirty="0">
                <a:solidFill>
                  <a:srgbClr val="F3EEE4"/>
                </a:solidFill>
                <a:latin typeface="Calibri" pitchFamily="34" charset="0"/>
                <a:ea typeface="Calibri" pitchFamily="34" charset="-122"/>
                <a:cs typeface="Calibri" pitchFamily="34" charset="-120"/>
              </a:rPr>
              <a:t>Which visitors should the first experience serve?</a:t>
            </a:r>
            <a:endParaRPr lang="en-US" sz="1050" dirty="0"/>
          </a:p>
        </p:txBody>
      </p:sp>
      <p:sp>
        <p:nvSpPr>
          <p:cNvPr id="10" name="Shape 7"/>
          <p:cNvSpPr/>
          <p:nvPr/>
        </p:nvSpPr>
        <p:spPr>
          <a:xfrm>
            <a:off x="3154680" y="1783080"/>
            <a:ext cx="2560320" cy="896112"/>
          </a:xfrm>
          <a:prstGeom prst="roundRect">
            <a:avLst>
              <a:gd name="adj" fmla="val 8163"/>
            </a:avLst>
          </a:prstGeom>
          <a:solidFill>
            <a:srgbClr val="221D2F"/>
          </a:solidFill>
          <a:ln w="12700">
            <a:solidFill>
              <a:srgbClr val="221D2F"/>
            </a:solidFill>
            <a:prstDash val="solid"/>
          </a:ln>
        </p:spPr>
      </p:sp>
      <p:sp>
        <p:nvSpPr>
          <p:cNvPr id="11" name="Text 8"/>
          <p:cNvSpPr txBox="1"/>
          <p:nvPr/>
        </p:nvSpPr>
        <p:spPr>
          <a:xfrm>
            <a:off x="3319272" y="1874520"/>
            <a:ext cx="2286000" cy="256032"/>
          </a:xfrm>
          <a:prstGeom prst="rect">
            <a:avLst/>
          </a:prstGeom>
          <a:noFill/>
          <a:ln/>
        </p:spPr>
        <p:txBody>
          <a:bodyPr wrap="square" lIns="0" tIns="0" rIns="0" bIns="0" rtlCol="0" anchor="t"/>
          <a:lstStyle/>
          <a:p>
            <a:pPr indent="0" marL="0">
              <a:buNone/>
            </a:pPr>
            <a:r>
              <a:rPr lang="en-US" sz="1200" b="1" dirty="0">
                <a:solidFill>
                  <a:srgbClr val="D9A04A"/>
                </a:solidFill>
                <a:latin typeface="Calibri" pitchFamily="34" charset="0"/>
                <a:ea typeface="Calibri" pitchFamily="34" charset="-122"/>
                <a:cs typeface="Calibri" pitchFamily="34" charset="-120"/>
              </a:rPr>
              <a:t>Priority</a:t>
            </a:r>
            <a:endParaRPr lang="en-US" sz="1200" dirty="0"/>
          </a:p>
        </p:txBody>
      </p:sp>
      <p:sp>
        <p:nvSpPr>
          <p:cNvPr id="12" name="Text 9"/>
          <p:cNvSpPr txBox="1"/>
          <p:nvPr/>
        </p:nvSpPr>
        <p:spPr>
          <a:xfrm>
            <a:off x="3319272" y="2148840"/>
            <a:ext cx="2286000" cy="475488"/>
          </a:xfrm>
          <a:prstGeom prst="rect">
            <a:avLst/>
          </a:prstGeom>
          <a:noFill/>
          <a:ln/>
        </p:spPr>
        <p:txBody>
          <a:bodyPr wrap="square" lIns="0" tIns="0" rIns="0" bIns="0" rtlCol="0" anchor="t"/>
          <a:lstStyle/>
          <a:p>
            <a:pPr indent="0" marL="0">
              <a:buNone/>
            </a:pPr>
            <a:r>
              <a:rPr lang="en-US" sz="1050" dirty="0">
                <a:solidFill>
                  <a:srgbClr val="F3EEE4"/>
                </a:solidFill>
                <a:latin typeface="Calibri" pitchFamily="34" charset="0"/>
                <a:ea typeface="Calibri" pitchFamily="34" charset="-122"/>
                <a:cs typeface="Calibri" pitchFamily="34" charset="-120"/>
              </a:rPr>
              <a:t>Which action matters most: shop, restaurant, book or return visit?</a:t>
            </a:r>
            <a:endParaRPr lang="en-US" sz="1050" dirty="0"/>
          </a:p>
        </p:txBody>
      </p:sp>
      <p:sp>
        <p:nvSpPr>
          <p:cNvPr id="13" name="Shape 10"/>
          <p:cNvSpPr/>
          <p:nvPr/>
        </p:nvSpPr>
        <p:spPr>
          <a:xfrm>
            <a:off x="457200" y="2807208"/>
            <a:ext cx="2560320" cy="896112"/>
          </a:xfrm>
          <a:prstGeom prst="roundRect">
            <a:avLst>
              <a:gd name="adj" fmla="val 8163"/>
            </a:avLst>
          </a:prstGeom>
          <a:solidFill>
            <a:srgbClr val="221D2F"/>
          </a:solidFill>
          <a:ln w="12700">
            <a:solidFill>
              <a:srgbClr val="221D2F"/>
            </a:solidFill>
            <a:prstDash val="solid"/>
          </a:ln>
        </p:spPr>
      </p:sp>
      <p:sp>
        <p:nvSpPr>
          <p:cNvPr id="14" name="Text 11"/>
          <p:cNvSpPr txBox="1"/>
          <p:nvPr/>
        </p:nvSpPr>
        <p:spPr>
          <a:xfrm>
            <a:off x="621792" y="2898648"/>
            <a:ext cx="2286000" cy="256032"/>
          </a:xfrm>
          <a:prstGeom prst="rect">
            <a:avLst/>
          </a:prstGeom>
          <a:noFill/>
          <a:ln/>
        </p:spPr>
        <p:txBody>
          <a:bodyPr wrap="square" lIns="0" tIns="0" rIns="0" bIns="0" rtlCol="0" anchor="t"/>
          <a:lstStyle/>
          <a:p>
            <a:pPr indent="0" marL="0">
              <a:buNone/>
            </a:pPr>
            <a:r>
              <a:rPr lang="en-US" sz="1200" b="1" dirty="0">
                <a:solidFill>
                  <a:srgbClr val="D9A04A"/>
                </a:solidFill>
                <a:latin typeface="Calibri" pitchFamily="34" charset="0"/>
                <a:ea typeface="Calibri" pitchFamily="34" charset="-122"/>
                <a:cs typeface="Calibri" pitchFamily="34" charset="-120"/>
              </a:rPr>
              <a:t>Route</a:t>
            </a:r>
            <a:endParaRPr lang="en-US" sz="1200" dirty="0"/>
          </a:p>
        </p:txBody>
      </p:sp>
      <p:sp>
        <p:nvSpPr>
          <p:cNvPr id="15" name="Text 12"/>
          <p:cNvSpPr txBox="1"/>
          <p:nvPr/>
        </p:nvSpPr>
        <p:spPr>
          <a:xfrm>
            <a:off x="621792" y="3172968"/>
            <a:ext cx="2286000" cy="475488"/>
          </a:xfrm>
          <a:prstGeom prst="rect">
            <a:avLst/>
          </a:prstGeom>
          <a:noFill/>
          <a:ln/>
        </p:spPr>
        <p:txBody>
          <a:bodyPr wrap="square" lIns="0" tIns="0" rIns="0" bIns="0" rtlCol="0" anchor="t"/>
          <a:lstStyle/>
          <a:p>
            <a:pPr indent="0" marL="0">
              <a:buNone/>
            </a:pPr>
            <a:r>
              <a:rPr lang="en-US" sz="1050" dirty="0">
                <a:solidFill>
                  <a:srgbClr val="F3EEE4"/>
                </a:solidFill>
                <a:latin typeface="Calibri" pitchFamily="34" charset="0"/>
                <a:ea typeface="Calibri" pitchFamily="34" charset="-122"/>
                <a:cs typeface="Calibri" pitchFamily="34" charset="-120"/>
              </a:rPr>
              <a:t>Which three spots work without disrupting operations?</a:t>
            </a:r>
            <a:endParaRPr lang="en-US" sz="1050" dirty="0"/>
          </a:p>
        </p:txBody>
      </p:sp>
      <p:sp>
        <p:nvSpPr>
          <p:cNvPr id="16" name="Shape 13"/>
          <p:cNvSpPr/>
          <p:nvPr/>
        </p:nvSpPr>
        <p:spPr>
          <a:xfrm>
            <a:off x="3154680" y="2807208"/>
            <a:ext cx="2560320" cy="896112"/>
          </a:xfrm>
          <a:prstGeom prst="roundRect">
            <a:avLst>
              <a:gd name="adj" fmla="val 8163"/>
            </a:avLst>
          </a:prstGeom>
          <a:solidFill>
            <a:srgbClr val="221D2F"/>
          </a:solidFill>
          <a:ln w="12700">
            <a:solidFill>
              <a:srgbClr val="221D2F"/>
            </a:solidFill>
            <a:prstDash val="solid"/>
          </a:ln>
        </p:spPr>
      </p:sp>
      <p:sp>
        <p:nvSpPr>
          <p:cNvPr id="17" name="Text 14"/>
          <p:cNvSpPr txBox="1"/>
          <p:nvPr/>
        </p:nvSpPr>
        <p:spPr>
          <a:xfrm>
            <a:off x="3319272" y="2898648"/>
            <a:ext cx="2286000" cy="256032"/>
          </a:xfrm>
          <a:prstGeom prst="rect">
            <a:avLst/>
          </a:prstGeom>
          <a:noFill/>
          <a:ln/>
        </p:spPr>
        <p:txBody>
          <a:bodyPr wrap="square" lIns="0" tIns="0" rIns="0" bIns="0" rtlCol="0" anchor="t"/>
          <a:lstStyle/>
          <a:p>
            <a:pPr indent="0" marL="0">
              <a:buNone/>
            </a:pPr>
            <a:r>
              <a:rPr lang="en-US" sz="1200" b="1" dirty="0">
                <a:solidFill>
                  <a:srgbClr val="D9A04A"/>
                </a:solidFill>
                <a:latin typeface="Calibri" pitchFamily="34" charset="0"/>
                <a:ea typeface="Calibri" pitchFamily="34" charset="-122"/>
                <a:cs typeface="Calibri" pitchFamily="34" charset="-120"/>
              </a:rPr>
              <a:t>Timing</a:t>
            </a:r>
            <a:endParaRPr lang="en-US" sz="1200" dirty="0"/>
          </a:p>
        </p:txBody>
      </p:sp>
      <p:sp>
        <p:nvSpPr>
          <p:cNvPr id="18" name="Text 15"/>
          <p:cNvSpPr txBox="1"/>
          <p:nvPr/>
        </p:nvSpPr>
        <p:spPr>
          <a:xfrm>
            <a:off x="3319272" y="3172968"/>
            <a:ext cx="2286000" cy="475488"/>
          </a:xfrm>
          <a:prstGeom prst="rect">
            <a:avLst/>
          </a:prstGeom>
          <a:noFill/>
          <a:ln/>
        </p:spPr>
        <p:txBody>
          <a:bodyPr wrap="square" lIns="0" tIns="0" rIns="0" bIns="0" rtlCol="0" anchor="t"/>
          <a:lstStyle/>
          <a:p>
            <a:pPr indent="0" marL="0">
              <a:buNone/>
            </a:pPr>
            <a:r>
              <a:rPr lang="en-US" sz="1050" dirty="0">
                <a:solidFill>
                  <a:srgbClr val="F3EEE4"/>
                </a:solidFill>
                <a:latin typeface="Calibri" pitchFamily="34" charset="0"/>
                <a:ea typeface="Calibri" pitchFamily="34" charset="-122"/>
                <a:cs typeface="Calibri" pitchFamily="34" charset="-120"/>
              </a:rPr>
              <a:t>When should it launch, and at which level?</a:t>
            </a:r>
            <a:endParaRPr lang="en-US" sz="1050" dirty="0"/>
          </a:p>
        </p:txBody>
      </p:sp>
      <p:sp>
        <p:nvSpPr>
          <p:cNvPr id="19" name="Text 16"/>
          <p:cNvSpPr txBox="1"/>
          <p:nvPr/>
        </p:nvSpPr>
        <p:spPr>
          <a:xfrm>
            <a:off x="457200" y="3931920"/>
            <a:ext cx="5486400" cy="822960"/>
          </a:xfrm>
          <a:prstGeom prst="rect">
            <a:avLst/>
          </a:prstGeom>
          <a:noFill/>
          <a:ln/>
        </p:spPr>
        <p:txBody>
          <a:bodyPr wrap="square" lIns="0" tIns="0" rIns="0" bIns="0" rtlCol="0" anchor="t"/>
          <a:lstStyle/>
          <a:p>
            <a:pPr indent="0" marL="0">
              <a:spcAft>
                <a:spcPts val="300"/>
              </a:spcAft>
              <a:buNone/>
            </a:pPr>
            <a:r>
              <a:rPr lang="en-US" sz="1100" b="1" dirty="0">
                <a:solidFill>
                  <a:srgbClr val="F3EEE4"/>
                </a:solidFill>
                <a:latin typeface="Calibri" pitchFamily="34" charset="0"/>
                <a:ea typeface="Calibri" pitchFamily="34" charset="-122"/>
                <a:cs typeface="Calibri" pitchFamily="34" charset="-120"/>
              </a:rPr>
              <a:t>David Grannum, IsleConnect</a:t>
            </a:r>
            <a:endParaRPr lang="en-US" sz="1100" dirty="0"/>
          </a:p>
          <a:p>
            <a:pPr indent="0" marL="0">
              <a:spcAft>
                <a:spcPts val="300"/>
              </a:spcAft>
              <a:buNone/>
            </a:pPr>
            <a:r>
              <a:rPr lang="en-US" sz="1100" dirty="0">
                <a:solidFill>
                  <a:srgbClr val="B3ADC0"/>
                </a:solidFill>
                <a:latin typeface="Calibri" pitchFamily="34" charset="0"/>
                <a:ea typeface="Calibri" pitchFamily="34" charset="-122"/>
                <a:cs typeface="Calibri" pitchFamily="34" charset="-120"/>
              </a:rPr>
              <a:t>david@isleconnect.co.uk  ·  07496 902449  ·  www.isleconnect.co.uk</a:t>
            </a:r>
            <a:endParaRPr lang="en-US" sz="1100" dirty="0"/>
          </a:p>
          <a:p>
            <a:pPr indent="0" marL="0">
              <a:spcAft>
                <a:spcPts val="300"/>
              </a:spcAft>
              <a:buNone/>
            </a:pPr>
            <a:r>
              <a:rPr lang="en-US" sz="1100" b="1" dirty="0">
                <a:solidFill>
                  <a:srgbClr val="F3EEE4"/>
                </a:solidFill>
                <a:latin typeface="Calibri" pitchFamily="34" charset="0"/>
                <a:ea typeface="Calibri" pitchFamily="34" charset="-122"/>
                <a:cs typeface="Calibri" pitchFamily="34" charset="-120"/>
              </a:rPr>
              <a:t>Simon Harrop, Medina Publishing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Shrouded in Garlic — proposal for The Garlic Farm</dc:title>
  <dc:subject>PptxGenJS Presentation</dc:subject>
  <dc:creator>IsleConnect</dc:creator>
  <cp:lastModifiedBy>IsleConnect</cp:lastModifiedBy>
  <cp:revision>1</cp:revision>
  <dcterms:created xsi:type="dcterms:W3CDTF">2026-09-23T10:51:17Z</dcterms:created>
  <dcterms:modified xsi:type="dcterms:W3CDTF">2026-09-23T10:51:17Z</dcterms:modified>
</cp:coreProperties>
</file>